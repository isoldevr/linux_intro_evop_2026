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256" r:id="rId2"/>
    <p:sldId id="324" r:id="rId3"/>
    <p:sldId id="327" r:id="rId4"/>
    <p:sldId id="325" r:id="rId5"/>
    <p:sldId id="333" r:id="rId6"/>
    <p:sldId id="326" r:id="rId7"/>
    <p:sldId id="328" r:id="rId8"/>
    <p:sldId id="329" r:id="rId9"/>
    <p:sldId id="331" r:id="rId10"/>
    <p:sldId id="330" r:id="rId11"/>
    <p:sldId id="334" r:id="rId12"/>
    <p:sldId id="350" r:id="rId13"/>
    <p:sldId id="335" r:id="rId14"/>
    <p:sldId id="336" r:id="rId15"/>
    <p:sldId id="337" r:id="rId16"/>
    <p:sldId id="341" r:id="rId17"/>
    <p:sldId id="342" r:id="rId18"/>
    <p:sldId id="339" r:id="rId19"/>
    <p:sldId id="340" r:id="rId20"/>
    <p:sldId id="343" r:id="rId21"/>
    <p:sldId id="338" r:id="rId22"/>
    <p:sldId id="344" r:id="rId23"/>
    <p:sldId id="345" r:id="rId24"/>
    <p:sldId id="346" r:id="rId25"/>
    <p:sldId id="347" r:id="rId26"/>
    <p:sldId id="349" r:id="rId27"/>
    <p:sldId id="348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3" r:id="rId41"/>
    <p:sldId id="364" r:id="rId42"/>
    <p:sldId id="365" r:id="rId43"/>
    <p:sldId id="366" r:id="rId44"/>
    <p:sldId id="368" r:id="rId45"/>
    <p:sldId id="367" r:id="rId46"/>
    <p:sldId id="369" r:id="rId47"/>
    <p:sldId id="372" r:id="rId48"/>
    <p:sldId id="370" r:id="rId49"/>
    <p:sldId id="373" r:id="rId50"/>
    <p:sldId id="371" r:id="rId51"/>
    <p:sldId id="375" r:id="rId52"/>
    <p:sldId id="374" r:id="rId53"/>
    <p:sldId id="376" r:id="rId54"/>
    <p:sldId id="377" r:id="rId55"/>
    <p:sldId id="378" r:id="rId56"/>
    <p:sldId id="380" r:id="rId57"/>
    <p:sldId id="379" r:id="rId58"/>
    <p:sldId id="381" r:id="rId59"/>
    <p:sldId id="332" r:id="rId6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>
        <p:scale>
          <a:sx n="76" d="100"/>
          <a:sy n="76" d="100"/>
        </p:scale>
        <p:origin x="94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6F9E4-A0FE-4082-A392-169C268450B3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C557A-3D91-49A9-BC46-2AB5BEA7CE14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856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5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45EF-BDC3-4A6C-6099-F0D0F417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B1C55-6491-C3C4-7C17-0178BB919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6F7C7-0E53-15EB-B60E-80B662F62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E4791-240B-5411-BB87-B4761D6EA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582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F817-194B-8AC2-F827-C2D8A06B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18BDD-E83F-982B-B8B5-58E5C2EB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7C4E7-DA43-741D-55F8-60CE8B72E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291D3-94F1-A411-C960-7D175EEC7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08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6831-764A-2D95-F4B3-B5A23AA4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88CC3-2737-7596-9FBB-DA3904437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293D2-E4A6-6AF0-C44B-89497EDD4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35080-61F9-B361-99E7-9C80C08C6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16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7DA-EC1C-806B-B75A-C24D32E8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D58FC-DE88-A5F0-CA74-979D69C22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52D6F-4ABB-FDFE-76DE-BA1CE27F1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27151-B5EF-B1E5-ACD9-7D9C6322F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26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4044-11A8-9F66-D48A-51493E5C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F0720-9953-F28E-65B3-A0EF7A277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C3F67-9539-D3F2-D51D-EFDAF5F82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E24E0-63E2-DCEE-2D1C-7DCDA5E9D5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431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5538-9E38-14C2-2F15-691DEF3B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A70E9-C5EA-22FD-1B40-C47B4A878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F8A8D-2100-2EC0-7846-9D68729E4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47DA8-43A3-4073-7722-FCC541490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328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7821-5DBA-8148-6975-94796E69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751E7-1F6E-A06C-2F03-7EB5752C4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0BDBD-7EF4-61DA-FBA4-BFED77434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528C6-2BDC-FF89-0EB3-6E7B7814C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474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E9018-3EF9-5D2F-0454-2E3709F3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DEC7B-9993-D3C8-E79A-1EFEA140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5E64F-F02B-6DD0-875E-B78F97C21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FD5C9-EA2C-B4BA-038B-08ABF61D1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3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F84E-F674-599A-D919-0789A84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B160F-B0EA-5E79-3E7B-6A33F8B2D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F2763-4333-3413-A055-589E44253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CD69D-E841-D1BC-7285-D06238F89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306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8FD7-0F09-0A64-D1B2-5507B34D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C172B-47C2-8119-A978-4C0735B1E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B3F4E-2E57-3174-2324-0DB90DA45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E88-6C9B-080B-531F-5224CF7B6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629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8848-E0F6-4E31-AAC5-922687FF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0FE58-7A4A-2BA7-0EE1-DCB05483A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05B4-1064-4171-1421-1976B928A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D06CA-B5EE-DFB9-F7A9-6B4221942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62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91CF-EE22-E150-3FDF-E53BFE0C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93F6C-3B4F-3B2A-333B-F0767EBB5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1E79F-A048-4BEB-8AB3-8776762E5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0D8D2-7DF6-4267-EAF3-55F5B0C37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674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9FDF-2ED4-2847-D8CF-AB7FDC7C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2E636-2E67-4A56-C63D-2F03B145F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5B6DA-32D9-80BB-AE7E-EDA3E13FD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4E62A-2832-F4A1-A5C3-E70D3B42D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640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790E-99BD-44FB-E4CC-4B47C146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E427C-4F46-C2AF-1C53-076A649FF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96B23-2366-A764-6FD8-62C353C63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4F669-24D2-302F-1DC3-CE653EDB5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639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39D7-45EB-81A3-78CE-0B23F22F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381C3-D1F1-CD0D-7CCB-71FB49EBC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68EBD-0552-E53D-260E-B6E0B6D21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1BA69-BDF4-F8A6-0276-F5D434C0E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733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14E9-9F88-1877-E1AB-7078EBF5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28B87-2229-2C12-BCAF-ED9647160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AC56-F59F-F2AF-B942-6B49E053E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AFAD-77E4-F8F7-6CBE-7A6594C1F1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2226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653A-B4FC-FEF8-A6F1-0535EBE1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2D1C9-40A1-01EE-1055-4A803E8C4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11747-9958-02B2-D99F-90C2DD1DA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153E6-98FF-E713-02B0-AD794EB67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734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1313-DFF5-C98B-A93A-9DAC228C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86027-6568-3B93-9E50-57D274A81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A083-0BA9-D8C3-F5DD-7CD383EF8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CB38E-C81F-55CC-E2AA-EDD8991D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3204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E23A-81C2-2784-A80F-8EC6D0D5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B4156-CCAE-3EE7-E329-D904AB9BD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86288-90E5-CD55-AB5E-5541F2569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76E58-B36E-4B09-4110-BEABFC1FE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108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BE854-45B3-971B-416F-7D636AD3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7FBDE-584E-83D4-3D67-0763BD162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D8A1C-A54C-15DE-2675-8D33E19EF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D850E-6054-25C7-FFF4-C9D45D0D9D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057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4716-CC05-6A5E-616A-C5346386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5CBF5-C8E1-8089-4B0D-2F9470535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FAB55-0BC6-E234-5D8B-E94E7B833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133A-DE14-DDDA-BE42-C2802DFE8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756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1F98-2AAA-8EF1-5B86-979C4AF5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C45A2-B7BD-0D7F-495B-B353D95FA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9DA77-2926-0272-4D0B-6C3EB7D8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23A3-A291-7809-110E-2B051C435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434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5D04-D069-9BB1-658A-AE0C0691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C07E6-6D4D-8EAD-CA68-B316B6071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6C782-7B52-877C-62D4-716AF57F6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BF793-6E46-88E7-6A3A-A29FDBA5D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660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BEE0-A7AD-AA5D-EAA5-C02B48A2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7641C-D14F-A9E3-5B88-987BF2A03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A2D10-5783-71C8-4724-A92861365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3B039-4BF0-C650-825E-24378E3BE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80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B0F5-05D3-2EEE-0CC9-FF1FC62C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C530D-9D83-4EB7-6E1E-459A8D059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958A1-E6B2-4CAD-B6F2-70C90FAD6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3837-FA16-6C63-48A5-3BEA4C831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0130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FC30-FE5B-2D83-D83C-30969C27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BDAF8-A06A-3B73-AB95-F356308B2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94A6D-36E8-1CBF-2B96-28A84D9DC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3FE84-2103-F479-B300-8CF75660E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2237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83A3-5D89-6F2C-C275-75F030B2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201CE-A3CE-8C97-C08B-71478C6B5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D8FE6-DFCA-41BE-4790-371C71169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A796F-5E6C-D584-536F-704396732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8573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9BA5-4349-15C9-8314-EB4E16F1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B42FE-8334-1587-6C29-1050E0962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49783-A91F-4B10-B28D-6870FE4FB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D4A1-284A-9C0C-8E07-99DFF0338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66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D84C-FA92-2CEE-6B6D-755A35AB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1964B-0BF8-0F06-E28A-4656D8BFA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C2680-3D01-90CE-55FD-54796016E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87903-7369-0636-7BB4-C215228AB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0775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D84C-FA92-2CEE-6B6D-755A35AB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1964B-0BF8-0F06-E28A-4656D8BFA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C2680-3D01-90CE-55FD-54796016E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87903-7369-0636-7BB4-C215228AB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005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6A6B-80A4-1500-363B-28E544DF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4C4C-9593-1469-9263-56BE97F4C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A0319-B3FD-9EE8-533B-AD9D4224D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B34FB-1012-1E96-B5F9-4226D5F3B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1738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4993-116D-5B11-3E60-9518DC9D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690E5-3B75-1DE0-83A2-0915C52F2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4C180-0E95-B425-1A61-872C92BCD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D37EB-0CC8-E1DE-3BFC-DCE000F72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3410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F4B6-6ED3-E3F2-5A98-B485C5DF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A5C3E-26EA-9C8C-631D-9048BD8B9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D6883-4A0E-62CB-33E9-D55A3946D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F5D91-0CBE-8D26-2E27-4F85A52784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5869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7AB9-61D5-81B4-A89F-F1224DCC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10705-A5E8-2AE5-5A84-D3A591FB5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BB204-1618-5793-1F81-769CD6192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F14BD-1807-77AA-F26A-B719D949D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0950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1A60-FD48-3D96-F91D-29AA6ABF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7A05B-87F1-F77A-1355-6FAD9C819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FEFEB-5387-D445-18B9-CEFC8FCF1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68EE-8B16-A02D-699C-5CF1E9033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9053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E274-BC6C-1C39-D508-B904E639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64DA3-AF54-6B51-FA17-57C5FA932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AF2BC-1879-A929-A39F-C01DB3AE5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folders divided by slashes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E318-6A72-83F2-57E8-B68C3312C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3593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8A6B-BDE6-0692-3FFC-DAEB567D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A574B-0214-5DFA-C33F-835D1404B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CE1EE-46D0-FFAE-C985-D892E254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C8DDF-EA56-0A96-A8B3-2861ECD92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2209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5A952-6E3D-C09D-55B5-AA46B69B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D3184-7936-2BB9-1056-59F596540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68174-340C-6258-E052-779CC299F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B6ECB-8B21-ED63-46AF-94F0C00D9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562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4487-A5D8-E122-2095-9E5F0EA6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5E997-1EDA-127E-6059-F7B20B23D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6706C-1C6B-AEBB-AEAE-AC3189E6C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63E72-9CC1-2225-AF58-DE84CF680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3248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D166-1AD7-ED06-632A-78565A03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65C33-FC1F-7148-D11A-5B25E6A12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79384-A177-C85B-9526-C9E394B5E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567E2-3657-2885-67B9-5675754F3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7920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A926-E466-B4F2-BCBB-B87F3A5E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C9521-1900-DB29-7A45-DFF0C6062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EAF15-2841-E341-4BBC-2632AC120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F664E-1D07-97EA-EFE4-2026FA80C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4062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E546-B187-6374-6296-198CBC42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16FD0-09EB-F219-7880-A96C193D5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1B1F9-6B2A-3FF7-33DE-7B581AA61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77F35-C51C-8284-7FA0-EA296FCB6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876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FF0EA-43FD-8D00-741E-83B3CD31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7DFD8-2F4A-2FC2-A853-F1EC80FB0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E61E9-C4D8-CD8C-521A-EB083425A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BFA28-4438-D6D8-E24E-57F4620E3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05981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E7AD-C962-F8CE-6354-B0DAD0A6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9700C-A5C8-BB37-B091-28341E616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69012-E2D4-1271-A870-1D6F9ABE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109F8-2F5F-5F03-C82B-3DD47704F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27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DDE6F-B250-E98C-813C-207648CB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12398-7DDD-2C33-5EA5-66F36FCC9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EC404-EB75-B518-13F2-212011019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B17E-AA51-854C-8BF0-B8F0A88BC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4640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3C1A-5965-B420-38E6-61F96775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5E171-F480-FD5C-D4F0-3BF72A00C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10A70-5445-0A90-256B-6E1478C30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C192-991A-98EC-918E-6911106D4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7969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AEDB-B256-E196-7215-01F2DCB2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7A299-A824-7FA1-D24E-EB1D2E52E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57BD6-64F5-681D-604C-CE2ED7B45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3D18D-67ED-116C-5D70-FC3346C04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807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080-6EDC-BB53-59D7-763B78EC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CEB2F-4432-8B0B-DDFB-A75190997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D8F9E-2026-5AFD-40B4-49B6D58C4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42BDA-05D0-F7A7-0CF1-0C519E81C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5122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165D-507C-1DF2-E65A-3568C9C8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36AE9-E6DF-9CD7-9CC1-7BE4E80E4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6504A-641E-45E9-E5A7-8DC824FD4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986DD-A89A-AE54-8D47-78415603F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5452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9E5F-7417-0D86-D9E2-8D3458B1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DB653-AB48-31BF-316B-6CAFBC3EA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D7ADE-D5A7-674B-D3C8-F40FD2A0A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0EBB2-A262-C7DC-DBBC-41D5E7409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7032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B15D-2FC2-F2EA-AA61-6AB69C8C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5E90B-6ED9-7A10-6EF0-FE06CA3F8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A7027-13AD-CA3A-1F79-71DC441A0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26C54-7C27-072F-1122-70DFCE418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980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D729-6857-5E4F-EB2E-0AF82A94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8700D-78C1-9C8C-4E33-F571CF9F8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9718B-CE31-645D-A756-92E4D5CC9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0A5B6-141E-5B71-C20B-65D7EF6EB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465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FDA3-3DA8-2FA9-E366-5DD0207D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4F22B-B06E-81C2-A618-2DD8A76F4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02BF9-D6D9-915E-74FA-41A094782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0092-09FD-4933-9CF3-8DEB9FE01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716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4A679-8BF0-59C5-CD70-C6801D8F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9371D-FE32-BA3B-F97B-A43AE7466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B2124-AA00-085C-180B-6CDAE17AC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AA7DA-1167-44D1-314C-E302C338C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7589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A75D8-35FE-34F5-444E-5AF0ADFF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A3961-DEE6-F021-468F-C12EA6DD4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1D596-5F05-0D92-DB9B-36770FEC4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4D526-76B9-E8E3-5D0B-8BAD639EA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66195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A095-35B7-4A10-AF42-CEB0974E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4362E-4F67-7443-104E-2093D6C42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D5B80-4502-8C75-430B-519F02A95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1642-FDB4-4619-0686-00ECC99BB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3184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16EE3-8BC6-9276-5457-C5C6EDFD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1C161-66C8-EB15-F45E-EEBE327D4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22829-CF0E-89C7-2AFB-01D9A4212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BD58A-452F-2EB7-F501-559F8FF37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9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61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64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83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6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4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7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91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3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2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7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44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73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1F6A3-2845-986B-6C67-137F44E09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noProof="0" dirty="0">
                <a:solidFill>
                  <a:schemeClr val="bg1"/>
                </a:solidFill>
              </a:rPr>
            </a:br>
            <a:br>
              <a:rPr lang="en-GB" noProof="0" dirty="0">
                <a:solidFill>
                  <a:schemeClr val="bg1"/>
                </a:solidFill>
              </a:rPr>
            </a:br>
            <a:r>
              <a:rPr lang="en-GB" b="1" noProof="0" dirty="0">
                <a:solidFill>
                  <a:schemeClr val="bg1"/>
                </a:solidFill>
              </a:rPr>
              <a:t>EVOP 2026</a:t>
            </a:r>
            <a:br>
              <a:rPr lang="en-GB" noProof="0" dirty="0">
                <a:solidFill>
                  <a:schemeClr val="bg1"/>
                </a:solidFill>
              </a:rPr>
            </a:br>
            <a:r>
              <a:rPr lang="en-GB" b="1" noProof="0" dirty="0">
                <a:solidFill>
                  <a:schemeClr val="bg1"/>
                </a:solidFill>
              </a:rPr>
              <a:t>Introduction to Linux pt. 1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147221-C97D-1E5E-0DA7-9DB3DE601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Dr. Isolde van Riemsdijk</a:t>
            </a:r>
          </a:p>
          <a:p>
            <a:r>
              <a:rPr lang="en-GB" noProof="0" dirty="0">
                <a:solidFill>
                  <a:schemeClr val="bg1"/>
                </a:solidFill>
              </a:rPr>
              <a:t>Copenhagen University</a:t>
            </a:r>
            <a:br>
              <a:rPr lang="en-GB" noProof="0" dirty="0">
                <a:solidFill>
                  <a:schemeClr val="bg1"/>
                </a:solidFill>
              </a:rPr>
            </a:b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1F1AF9-28B5-D71D-B7E3-F0E3AD89A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888" y="4210259"/>
            <a:ext cx="2015757" cy="244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 descr="Afbeelding met computer, meubels, stoel, schets&#10;&#10;Door AI gegenereerde inhoud is mogelijk onjuist.">
            <a:extLst>
              <a:ext uri="{FF2B5EF4-FFF2-40B4-BE49-F238E27FC236}">
                <a16:creationId xmlns:a16="http://schemas.microsoft.com/office/drawing/2014/main" id="{95FDC1D3-16F1-1C1D-A4C8-E7ADA98FC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7" y="4295383"/>
            <a:ext cx="2161587" cy="228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9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3176" y="9816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Set </a:t>
            </a:r>
            <a:r>
              <a:rPr lang="de-DE" b="1" dirty="0" err="1">
                <a:solidFill>
                  <a:schemeClr val="bg1"/>
                </a:solidFill>
              </a:rPr>
              <a:t>up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your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station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Welcome</a:t>
            </a:r>
          </a:p>
        </p:txBody>
      </p:sp>
      <p:pic>
        <p:nvPicPr>
          <p:cNvPr id="6" name="Afbeelding 5" descr="Afbeelding met tekst, grafische vormgeving, tekenfilm, illustratie&#10;&#10;Door AI gegenereerde inhoud is mogelijk onjuist.">
            <a:extLst>
              <a:ext uri="{FF2B5EF4-FFF2-40B4-BE49-F238E27FC236}">
                <a16:creationId xmlns:a16="http://schemas.microsoft.com/office/drawing/2014/main" id="{EC63AC65-07FB-9613-D9F3-78C77B59FA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4" r="513" b="1898"/>
          <a:stretch>
            <a:fillRect/>
          </a:stretch>
        </p:blipFill>
        <p:spPr>
          <a:xfrm>
            <a:off x="4601498" y="1325563"/>
            <a:ext cx="7374194" cy="528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0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FA34B-8F89-197E-8D97-7B5BFBB4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805B90-2DEF-A1F9-5517-9686B1EDB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76" y="9816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Set </a:t>
            </a:r>
            <a:r>
              <a:rPr lang="de-DE" b="1" dirty="0" err="1">
                <a:solidFill>
                  <a:schemeClr val="bg1"/>
                </a:solidFill>
              </a:rPr>
              <a:t>up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your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station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56C2457-9434-0124-FACE-DD2C6609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Welcome</a:t>
            </a:r>
          </a:p>
        </p:txBody>
      </p:sp>
      <p:pic>
        <p:nvPicPr>
          <p:cNvPr id="6" name="Afbeelding 5" descr="Afbeelding met tekst, grafische vormgeving, tekenfilm, illustratie&#10;&#10;Door AI gegenereerde inhoud is mogelijk onjuist.">
            <a:extLst>
              <a:ext uri="{FF2B5EF4-FFF2-40B4-BE49-F238E27FC236}">
                <a16:creationId xmlns:a16="http://schemas.microsoft.com/office/drawing/2014/main" id="{47778932-F547-E3E2-9D61-FDF742420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4" r="513" b="1898"/>
          <a:stretch>
            <a:fillRect/>
          </a:stretch>
        </p:blipFill>
        <p:spPr>
          <a:xfrm>
            <a:off x="4601498" y="1325563"/>
            <a:ext cx="7374194" cy="528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2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A8F98-3853-2D3A-F43C-1AB96E07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673996-5DAA-6320-659E-CF6281BE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76" y="9816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Set </a:t>
            </a:r>
            <a:r>
              <a:rPr lang="de-DE" b="1" dirty="0" err="1">
                <a:solidFill>
                  <a:schemeClr val="bg1"/>
                </a:solidFill>
              </a:rPr>
              <a:t>up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your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station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EEA91F1-313C-7659-59B6-97AD6A9F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Welcome</a:t>
            </a:r>
          </a:p>
        </p:txBody>
      </p:sp>
      <p:pic>
        <p:nvPicPr>
          <p:cNvPr id="4" name="Afbeelding 3" descr="Afbeelding met tekst, meubels, stoel, ontwerp&#10;&#10;Door AI gegenereerde inhoud is mogelijk onjuist.">
            <a:extLst>
              <a:ext uri="{FF2B5EF4-FFF2-40B4-BE49-F238E27FC236}">
                <a16:creationId xmlns:a16="http://schemas.microsoft.com/office/drawing/2014/main" id="{956D0037-587A-16A9-B583-134B95A9A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316" y="1289795"/>
            <a:ext cx="7222870" cy="526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0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49828-5792-DA94-116B-7133F0C4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F39260-3EE9-000E-5646-0B8CDD1F1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76" y="98164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And </a:t>
            </a:r>
            <a:r>
              <a:rPr lang="de-DE" b="1" dirty="0" err="1">
                <a:solidFill>
                  <a:schemeClr val="bg1"/>
                </a:solidFill>
              </a:rPr>
              <a:t>keep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tidy</a:t>
            </a:r>
            <a:r>
              <a:rPr lang="de-DE" b="1" dirty="0">
                <a:solidFill>
                  <a:schemeClr val="bg1"/>
                </a:solidFill>
              </a:rPr>
              <a:t>!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CCB436D-D11F-5BAE-76E8-836231C4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85332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47EC7-473A-C325-7B73-CC66E8F7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E6D2A2-C466-CF9F-4C27-F20860CB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18" y="1701129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Teaching Assistants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Second screen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Sticky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notes</a:t>
            </a: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Set-</a:t>
            </a:r>
            <a:r>
              <a:rPr lang="de-DE" b="1" dirty="0" err="1">
                <a:solidFill>
                  <a:schemeClr val="bg1"/>
                </a:solidFill>
              </a:rPr>
              <a:t>up</a:t>
            </a:r>
            <a:r>
              <a:rPr lang="de-DE" b="1" dirty="0">
                <a:solidFill>
                  <a:schemeClr val="bg1"/>
                </a:solidFill>
              </a:rPr>
              <a:t> and log </a:t>
            </a:r>
            <a:r>
              <a:rPr lang="de-DE" b="1" dirty="0" err="1">
                <a:solidFill>
                  <a:schemeClr val="bg1"/>
                </a:solidFill>
              </a:rPr>
              <a:t>into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desktop</a:t>
            </a: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Slides </a:t>
            </a:r>
            <a:r>
              <a:rPr lang="de-DE" b="1" dirty="0" err="1">
                <a:solidFill>
                  <a:schemeClr val="bg1"/>
                </a:solidFill>
              </a:rPr>
              <a:t>are</a:t>
            </a:r>
            <a:r>
              <a:rPr lang="de-DE" b="1" dirty="0">
                <a:solidFill>
                  <a:schemeClr val="bg1"/>
                </a:solidFill>
              </a:rPr>
              <a:t> also on: https://github.com/IsoldevR/Linux_Intro_EVOP_2026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967BF0F-0374-E80B-41A8-BF297C5E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Logistics</a:t>
            </a:r>
          </a:p>
        </p:txBody>
      </p:sp>
      <p:pic>
        <p:nvPicPr>
          <p:cNvPr id="2054" name="Picture 6" descr="superhero backgrounds #3738709 | Clipart Library">
            <a:extLst>
              <a:ext uri="{FF2B5EF4-FFF2-40B4-BE49-F238E27FC236}">
                <a16:creationId xmlns:a16="http://schemas.microsoft.com/office/drawing/2014/main" id="{2457AD67-592A-AF49-D86F-F5539B466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857896" y="1174197"/>
            <a:ext cx="1677565" cy="105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64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49BEE-8119-D69F-D6B9-2580F729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F976A3-FF3C-4069-FE3E-881165A78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3" y="1081697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What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is</a:t>
            </a:r>
            <a:r>
              <a:rPr lang="de-DE" b="1" dirty="0">
                <a:solidFill>
                  <a:schemeClr val="bg1"/>
                </a:solidFill>
              </a:rPr>
              <a:t> Unix?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Operating </a:t>
            </a:r>
            <a:r>
              <a:rPr lang="de-DE" dirty="0" err="1">
                <a:solidFill>
                  <a:schemeClr val="bg1"/>
                </a:solidFill>
              </a:rPr>
              <a:t>system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Runs on </a:t>
            </a:r>
            <a:r>
              <a:rPr lang="de-DE" dirty="0" err="1">
                <a:solidFill>
                  <a:schemeClr val="bg1"/>
                </a:solidFill>
              </a:rPr>
              <a:t>any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computer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 err="1">
                <a:solidFill>
                  <a:schemeClr val="bg1"/>
                </a:solidFill>
              </a:rPr>
              <a:t>Designed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developing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software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Sharing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tools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Free UNIX-like </a:t>
            </a:r>
            <a:r>
              <a:rPr lang="de-DE" b="1" dirty="0" err="1">
                <a:solidFill>
                  <a:schemeClr val="bg1"/>
                </a:solidFill>
              </a:rPr>
              <a:t>variants</a:t>
            </a: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Ubuntu, Fedora, Debian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66CC47C-A518-819A-E0F2-56CFEF71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Introduction of Unix &amp; Terminal</a:t>
            </a:r>
          </a:p>
        </p:txBody>
      </p:sp>
    </p:spTree>
    <p:extLst>
      <p:ext uri="{BB962C8B-B14F-4D97-AF65-F5344CB8AC3E}">
        <p14:creationId xmlns:p14="http://schemas.microsoft.com/office/powerpoint/2010/main" val="223032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38468-DBDA-FAAF-B858-54CDA426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E22E-0344-45E4-EE2D-5883C773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7744469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Philosophy </a:t>
            </a:r>
            <a:r>
              <a:rPr lang="de-DE" b="1" dirty="0" err="1">
                <a:solidFill>
                  <a:schemeClr val="bg1"/>
                </a:solidFill>
              </a:rPr>
              <a:t>of</a:t>
            </a:r>
            <a:r>
              <a:rPr lang="de-DE" b="1" dirty="0">
                <a:solidFill>
                  <a:schemeClr val="bg1"/>
                </a:solidFill>
              </a:rPr>
              <a:t> Unix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String </a:t>
            </a:r>
            <a:r>
              <a:rPr lang="de-DE" dirty="0" err="1">
                <a:solidFill>
                  <a:schemeClr val="bg1"/>
                </a:solidFill>
              </a:rPr>
              <a:t>small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programms</a:t>
            </a:r>
            <a:r>
              <a:rPr lang="de-DE" dirty="0">
                <a:solidFill>
                  <a:schemeClr val="bg1"/>
                </a:solidFill>
              </a:rPr>
              <a:t> / </a:t>
            </a:r>
            <a:r>
              <a:rPr lang="de-DE" dirty="0" err="1">
                <a:solidFill>
                  <a:schemeClr val="bg1"/>
                </a:solidFill>
              </a:rPr>
              <a:t>steps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together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pipes</a:t>
            </a: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dirty="0" err="1">
                <a:solidFill>
                  <a:schemeClr val="bg1"/>
                </a:solidFill>
              </a:rPr>
              <a:t>Strung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together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pipes</a:t>
            </a:r>
            <a:r>
              <a:rPr lang="de-DE" b="1" dirty="0">
                <a:solidFill>
                  <a:schemeClr val="bg1"/>
                </a:solidFill>
              </a:rPr>
              <a:t>: |  </a:t>
            </a:r>
            <a:r>
              <a:rPr lang="de-DE" b="1" dirty="0" err="1">
                <a:solidFill>
                  <a:schemeClr val="bg1"/>
                </a:solidFill>
              </a:rPr>
              <a:t>or</a:t>
            </a:r>
            <a:r>
              <a:rPr lang="de-DE" b="1" dirty="0">
                <a:solidFill>
                  <a:schemeClr val="bg1"/>
                </a:solidFill>
              </a:rPr>
              <a:t>  &gt;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b="1" i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i="1" dirty="0">
                <a:solidFill>
                  <a:schemeClr val="bg1"/>
                </a:solidFill>
              </a:rPr>
              <a:t>Pipeline: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Program</a:t>
            </a:r>
            <a:r>
              <a:rPr lang="de-DE" dirty="0">
                <a:solidFill>
                  <a:schemeClr val="bg1"/>
                </a:solidFill>
              </a:rPr>
              <a:t> 1 + </a:t>
            </a:r>
            <a:r>
              <a:rPr lang="de-DE" dirty="0" err="1">
                <a:solidFill>
                  <a:schemeClr val="bg1"/>
                </a:solidFill>
              </a:rPr>
              <a:t>file</a:t>
            </a:r>
            <a:r>
              <a:rPr lang="de-DE" dirty="0">
                <a:solidFill>
                  <a:schemeClr val="bg1"/>
                </a:solidFill>
              </a:rPr>
              <a:t> 1 &gt; </a:t>
            </a:r>
            <a:r>
              <a:rPr lang="de-DE" dirty="0" err="1">
                <a:solidFill>
                  <a:schemeClr val="bg1"/>
                </a:solidFill>
              </a:rPr>
              <a:t>output</a:t>
            </a:r>
            <a:r>
              <a:rPr lang="de-DE" dirty="0">
                <a:solidFill>
                  <a:schemeClr val="bg1"/>
                </a:solidFill>
              </a:rPr>
              <a:t>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Program</a:t>
            </a:r>
            <a:r>
              <a:rPr lang="de-DE" dirty="0">
                <a:solidFill>
                  <a:schemeClr val="bg1"/>
                </a:solidFill>
              </a:rPr>
              <a:t> 1 + </a:t>
            </a:r>
            <a:r>
              <a:rPr lang="de-DE" dirty="0" err="1">
                <a:solidFill>
                  <a:schemeClr val="bg1"/>
                </a:solidFill>
              </a:rPr>
              <a:t>file</a:t>
            </a:r>
            <a:r>
              <a:rPr lang="de-DE" dirty="0">
                <a:solidFill>
                  <a:schemeClr val="bg1"/>
                </a:solidFill>
              </a:rPr>
              <a:t> 1 </a:t>
            </a:r>
            <a:r>
              <a:rPr lang="de-DE" b="1" dirty="0">
                <a:solidFill>
                  <a:schemeClr val="bg1"/>
                </a:solidFill>
              </a:rPr>
              <a:t>|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Program</a:t>
            </a:r>
            <a:r>
              <a:rPr lang="de-DE" dirty="0">
                <a:solidFill>
                  <a:schemeClr val="bg1"/>
                </a:solidFill>
              </a:rPr>
              <a:t> 2 + </a:t>
            </a:r>
            <a:r>
              <a:rPr lang="de-DE" dirty="0" err="1">
                <a:solidFill>
                  <a:schemeClr val="bg1"/>
                </a:solidFill>
              </a:rPr>
              <a:t>output</a:t>
            </a:r>
            <a:r>
              <a:rPr lang="de-DE" dirty="0">
                <a:solidFill>
                  <a:schemeClr val="bg1"/>
                </a:solidFill>
              </a:rPr>
              <a:t> 1 </a:t>
            </a:r>
            <a:r>
              <a:rPr lang="de-DE" b="1" dirty="0">
                <a:solidFill>
                  <a:schemeClr val="bg1"/>
                </a:solidFill>
              </a:rPr>
              <a:t>|</a:t>
            </a:r>
            <a:r>
              <a:rPr lang="de-DE" dirty="0">
                <a:solidFill>
                  <a:schemeClr val="bg1"/>
                </a:solidFill>
              </a:rPr>
              <a:t> etc.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1FF343C-39F2-40B9-618A-DFEEB87B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Introduction of Unix &amp; Terminal</a:t>
            </a:r>
          </a:p>
        </p:txBody>
      </p:sp>
    </p:spTree>
    <p:extLst>
      <p:ext uri="{BB962C8B-B14F-4D97-AF65-F5344CB8AC3E}">
        <p14:creationId xmlns:p14="http://schemas.microsoft.com/office/powerpoint/2010/main" val="220942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67907-5C77-50B8-18C9-22323B78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586861-5111-E96F-73F1-42EB34B4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912098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Philosophy </a:t>
            </a:r>
            <a:r>
              <a:rPr lang="de-DE" b="1" dirty="0" err="1">
                <a:solidFill>
                  <a:schemeClr val="bg1"/>
                </a:solidFill>
              </a:rPr>
              <a:t>of</a:t>
            </a:r>
            <a:r>
              <a:rPr lang="de-DE" b="1" dirty="0">
                <a:solidFill>
                  <a:schemeClr val="bg1"/>
                </a:solidFill>
              </a:rPr>
              <a:t> Unix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Advantages: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>
                <a:solidFill>
                  <a:schemeClr val="bg1"/>
                </a:solidFill>
              </a:rPr>
              <a:t>Checks </a:t>
            </a:r>
            <a:r>
              <a:rPr lang="de-DE" sz="2800" dirty="0" err="1">
                <a:solidFill>
                  <a:schemeClr val="bg1"/>
                </a:solidFill>
              </a:rPr>
              <a:t>each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step</a:t>
            </a:r>
            <a:endParaRPr lang="de-DE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>
                <a:solidFill>
                  <a:schemeClr val="bg1"/>
                </a:solidFill>
              </a:rPr>
              <a:t>Errors easy </a:t>
            </a:r>
            <a:r>
              <a:rPr lang="de-DE" sz="2800" dirty="0" err="1">
                <a:solidFill>
                  <a:schemeClr val="bg1"/>
                </a:solidFill>
              </a:rPr>
              <a:t>to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solve</a:t>
            </a:r>
            <a:endParaRPr lang="de-DE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 err="1">
                <a:solidFill>
                  <a:schemeClr val="bg1"/>
                </a:solidFill>
              </a:rPr>
              <a:t>Computationally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efficient</a:t>
            </a:r>
            <a:endParaRPr lang="de-DE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>
                <a:solidFill>
                  <a:schemeClr val="bg1"/>
                </a:solidFill>
              </a:rPr>
              <a:t>Flexible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>
                <a:solidFill>
                  <a:schemeClr val="bg1"/>
                </a:solidFill>
              </a:rPr>
              <a:t>Updates </a:t>
            </a:r>
            <a:r>
              <a:rPr lang="de-DE" sz="2800" dirty="0" err="1">
                <a:solidFill>
                  <a:schemeClr val="bg1"/>
                </a:solidFill>
              </a:rPr>
              <a:t>of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programs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don‘t</a:t>
            </a:r>
            <a:r>
              <a:rPr lang="de-DE" sz="2800" dirty="0">
                <a:solidFill>
                  <a:schemeClr val="bg1"/>
                </a:solidFill>
              </a:rPr>
              <a:t> break </a:t>
            </a:r>
            <a:r>
              <a:rPr lang="de-DE" sz="2800" dirty="0" err="1">
                <a:solidFill>
                  <a:schemeClr val="bg1"/>
                </a:solidFill>
              </a:rPr>
              <a:t>the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whole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pipeline</a:t>
            </a:r>
            <a:endParaRPr lang="de-DE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Disadvantages</a:t>
            </a:r>
            <a:r>
              <a:rPr lang="de-DE" b="1" dirty="0">
                <a:solidFill>
                  <a:schemeClr val="bg1"/>
                </a:solidFill>
              </a:rPr>
              <a:t>: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 err="1">
                <a:solidFill>
                  <a:schemeClr val="bg1"/>
                </a:solidFill>
              </a:rPr>
              <a:t>Requires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some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coding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skills</a:t>
            </a:r>
            <a:endParaRPr lang="de-DE" sz="2800" dirty="0">
              <a:solidFill>
                <a:schemeClr val="bg1"/>
              </a:solidFill>
            </a:endParaRP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</a:pPr>
            <a:r>
              <a:rPr lang="de-DE" sz="2800" dirty="0" err="1">
                <a:solidFill>
                  <a:schemeClr val="bg1"/>
                </a:solidFill>
              </a:rPr>
              <a:t>Good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documentation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needed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for</a:t>
            </a:r>
            <a:r>
              <a:rPr lang="de-DE" sz="2800" dirty="0">
                <a:solidFill>
                  <a:schemeClr val="bg1"/>
                </a:solidFill>
              </a:rPr>
              <a:t> </a:t>
            </a:r>
            <a:r>
              <a:rPr lang="de-DE" sz="2800" dirty="0" err="1">
                <a:solidFill>
                  <a:schemeClr val="bg1"/>
                </a:solidFill>
              </a:rPr>
              <a:t>reproducibility</a:t>
            </a:r>
            <a:endParaRPr lang="de-DE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43A5ADAA-A0B9-4F0B-6039-D6B7961C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Introduction of Unix &amp; Terminal</a:t>
            </a:r>
          </a:p>
        </p:txBody>
      </p:sp>
    </p:spTree>
    <p:extLst>
      <p:ext uri="{BB962C8B-B14F-4D97-AF65-F5344CB8AC3E}">
        <p14:creationId xmlns:p14="http://schemas.microsoft.com/office/powerpoint/2010/main" val="215828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4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7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8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45FFB-68E0-78D2-FCD1-A2B91D45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34650B-5D12-CAE2-B828-F3209F412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We</a:t>
            </a:r>
            <a:r>
              <a:rPr lang="de-DE" b="1" dirty="0">
                <a:solidFill>
                  <a:schemeClr val="bg1"/>
                </a:solidFill>
              </a:rPr>
              <a:t> will switch </a:t>
            </a:r>
            <a:r>
              <a:rPr lang="de-DE" b="1" dirty="0" err="1">
                <a:solidFill>
                  <a:schemeClr val="bg1"/>
                </a:solidFill>
              </a:rPr>
              <a:t>now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between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this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presentation</a:t>
            </a:r>
            <a:r>
              <a:rPr lang="de-DE" b="1" dirty="0">
                <a:solidFill>
                  <a:schemeClr val="bg1"/>
                </a:solidFill>
              </a:rPr>
              <a:t> and GitHub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Exercise</a:t>
            </a:r>
            <a:r>
              <a:rPr lang="de-DE" b="1" dirty="0">
                <a:solidFill>
                  <a:schemeClr val="bg1"/>
                </a:solidFill>
              </a:rPr>
              <a:t> 0: Log-in </a:t>
            </a:r>
            <a:r>
              <a:rPr lang="de-DE" b="1" dirty="0" err="1">
                <a:solidFill>
                  <a:schemeClr val="bg1"/>
                </a:solidFill>
              </a:rPr>
              <a:t>to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computer</a:t>
            </a: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Exercise</a:t>
            </a:r>
            <a:r>
              <a:rPr lang="de-DE" b="1" dirty="0">
                <a:solidFill>
                  <a:schemeClr val="bg1"/>
                </a:solidFill>
              </a:rPr>
              <a:t> 1: </a:t>
            </a:r>
            <a:r>
              <a:rPr lang="de-DE" b="1" dirty="0" err="1">
                <a:solidFill>
                  <a:schemeClr val="bg1"/>
                </a:solidFill>
              </a:rPr>
              <a:t>Explore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local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computer</a:t>
            </a: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1162FC1-38CA-1068-5AAB-DA73E774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Log-in to LOCAL computer &amp; Explore!</a:t>
            </a:r>
          </a:p>
        </p:txBody>
      </p:sp>
    </p:spTree>
    <p:extLst>
      <p:ext uri="{BB962C8B-B14F-4D97-AF65-F5344CB8AC3E}">
        <p14:creationId xmlns:p14="http://schemas.microsoft.com/office/powerpoint/2010/main" val="73443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AFD5A-0251-2887-B931-DE64F067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0F45B2-1723-3009-73F1-832A55AB7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Cloud </a:t>
            </a:r>
            <a:r>
              <a:rPr lang="de-DE" b="1" dirty="0" err="1">
                <a:solidFill>
                  <a:schemeClr val="bg1"/>
                </a:solidFill>
              </a:rPr>
              <a:t>server</a:t>
            </a:r>
            <a:r>
              <a:rPr lang="de-DE" b="1" dirty="0">
                <a:solidFill>
                  <a:schemeClr val="bg1"/>
                </a:solidFill>
              </a:rPr>
              <a:t> &lt;&gt; </a:t>
            </a:r>
            <a:r>
              <a:rPr lang="de-DE" b="1" dirty="0" err="1">
                <a:solidFill>
                  <a:schemeClr val="bg1"/>
                </a:solidFill>
              </a:rPr>
              <a:t>physical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server</a:t>
            </a: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Server / </a:t>
            </a:r>
            <a:r>
              <a:rPr lang="de-DE" b="1" dirty="0" err="1">
                <a:solidFill>
                  <a:schemeClr val="bg1"/>
                </a:solidFill>
              </a:rPr>
              <a:t>cluster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manager</a:t>
            </a:r>
            <a:r>
              <a:rPr lang="de-DE" b="1" dirty="0">
                <a:solidFill>
                  <a:schemeClr val="bg1"/>
                </a:solidFill>
              </a:rPr>
              <a:t> / IT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02FE7D4-330A-1F03-BD3E-EE315BFC3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Types of server</a:t>
            </a:r>
          </a:p>
        </p:txBody>
      </p:sp>
      <p:pic>
        <p:nvPicPr>
          <p:cNvPr id="4" name="Afbeelding 3" descr="Afbeelding met tekst, schermopname, Lettertype, diagram&#10;&#10;Door AI gegenereerde inhoud is mogelijk onjuist.">
            <a:extLst>
              <a:ext uri="{FF2B5EF4-FFF2-40B4-BE49-F238E27FC236}">
                <a16:creationId xmlns:a16="http://schemas.microsoft.com/office/drawing/2014/main" id="{4A3099DF-EA0F-DB27-AE7F-0A081546E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437" y="997124"/>
            <a:ext cx="7222127" cy="27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4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A983C-FF15-4631-CD41-1B412A3D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06B277-3693-4D4A-DC81-43C031476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43E1783-64C5-876E-FFC3-B329A91A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Command line</a:t>
            </a:r>
          </a:p>
        </p:txBody>
      </p:sp>
      <p:pic>
        <p:nvPicPr>
          <p:cNvPr id="7" name="Afbeelding 6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7B56372E-5D01-9380-7DE3-036E7F1C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72" y="1355379"/>
            <a:ext cx="1085319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2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61083-8234-9B2A-2F61-0B7414F3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58EBA6-53BA-4514-AAA6-2EC493508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„</a:t>
            </a:r>
            <a:r>
              <a:rPr lang="de-DE" b="1" dirty="0" err="1">
                <a:solidFill>
                  <a:schemeClr val="bg1"/>
                </a:solidFill>
              </a:rPr>
              <a:t>It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doesn‘t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“😭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„I </a:t>
            </a:r>
            <a:r>
              <a:rPr lang="de-DE" b="1" dirty="0" err="1">
                <a:solidFill>
                  <a:schemeClr val="bg1"/>
                </a:solidFill>
              </a:rPr>
              <a:t>tried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program</a:t>
            </a:r>
            <a:r>
              <a:rPr lang="de-DE" b="1" dirty="0">
                <a:solidFill>
                  <a:schemeClr val="bg1"/>
                </a:solidFill>
              </a:rPr>
              <a:t> x and </a:t>
            </a:r>
            <a:r>
              <a:rPr lang="de-DE" b="1" dirty="0" err="1">
                <a:solidFill>
                  <a:schemeClr val="bg1"/>
                </a:solidFill>
              </a:rPr>
              <a:t>it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doesn‘t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“😢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„I ran </a:t>
            </a:r>
            <a:r>
              <a:rPr lang="de-DE" b="1" dirty="0" err="1">
                <a:solidFill>
                  <a:schemeClr val="bg1"/>
                </a:solidFill>
              </a:rPr>
              <a:t>this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command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with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program</a:t>
            </a:r>
            <a:r>
              <a:rPr lang="de-DE" b="1" dirty="0">
                <a:solidFill>
                  <a:schemeClr val="bg1"/>
                </a:solidFill>
              </a:rPr>
              <a:t> x and </a:t>
            </a:r>
            <a:r>
              <a:rPr lang="de-DE" b="1" dirty="0" err="1">
                <a:solidFill>
                  <a:schemeClr val="bg1"/>
                </a:solidFill>
              </a:rPr>
              <a:t>it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doesn‘t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“🥲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„I am </a:t>
            </a:r>
            <a:r>
              <a:rPr lang="de-DE" b="1" dirty="0" err="1">
                <a:solidFill>
                  <a:schemeClr val="bg1"/>
                </a:solidFill>
              </a:rPr>
              <a:t>logged</a:t>
            </a:r>
            <a:r>
              <a:rPr lang="de-DE" b="1" dirty="0">
                <a:solidFill>
                  <a:schemeClr val="bg1"/>
                </a:solidFill>
              </a:rPr>
              <a:t> in on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server</a:t>
            </a:r>
            <a:r>
              <a:rPr lang="de-DE" b="1" dirty="0">
                <a:solidFill>
                  <a:schemeClr val="bg1"/>
                </a:solidFill>
              </a:rPr>
              <a:t>, </a:t>
            </a:r>
            <a:r>
              <a:rPr lang="de-DE" b="1" dirty="0" err="1">
                <a:solidFill>
                  <a:schemeClr val="bg1"/>
                </a:solidFill>
              </a:rPr>
              <a:t>loaded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right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package</a:t>
            </a:r>
            <a:r>
              <a:rPr lang="de-DE" b="1" dirty="0">
                <a:solidFill>
                  <a:schemeClr val="bg1"/>
                </a:solidFill>
              </a:rPr>
              <a:t>, am in </a:t>
            </a:r>
            <a:r>
              <a:rPr lang="de-DE" b="1" dirty="0" err="1">
                <a:solidFill>
                  <a:schemeClr val="bg1"/>
                </a:solidFill>
              </a:rPr>
              <a:t>the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right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directory</a:t>
            </a:r>
            <a:r>
              <a:rPr lang="de-DE" b="1" dirty="0">
                <a:solidFill>
                  <a:schemeClr val="bg1"/>
                </a:solidFill>
              </a:rPr>
              <a:t>, and </a:t>
            </a:r>
            <a:r>
              <a:rPr lang="de-DE" b="1" dirty="0" err="1">
                <a:solidFill>
                  <a:schemeClr val="bg1"/>
                </a:solidFill>
              </a:rPr>
              <a:t>this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command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with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program</a:t>
            </a:r>
            <a:r>
              <a:rPr lang="de-DE" b="1" dirty="0">
                <a:solidFill>
                  <a:schemeClr val="bg1"/>
                </a:solidFill>
              </a:rPr>
              <a:t> x </a:t>
            </a:r>
            <a:r>
              <a:rPr lang="de-DE" b="1" dirty="0" err="1">
                <a:solidFill>
                  <a:schemeClr val="bg1"/>
                </a:solidFill>
              </a:rPr>
              <a:t>doesn‘t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work</a:t>
            </a:r>
            <a:r>
              <a:rPr lang="de-DE" b="1" dirty="0">
                <a:solidFill>
                  <a:schemeClr val="bg1"/>
                </a:solidFill>
              </a:rPr>
              <a:t>, I </a:t>
            </a:r>
            <a:r>
              <a:rPr lang="de-DE" b="1" dirty="0" err="1">
                <a:solidFill>
                  <a:schemeClr val="bg1"/>
                </a:solidFill>
              </a:rPr>
              <a:t>already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checked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if</a:t>
            </a:r>
            <a:r>
              <a:rPr lang="de-DE" b="1" dirty="0">
                <a:solidFill>
                  <a:schemeClr val="bg1"/>
                </a:solidFill>
              </a:rPr>
              <a:t> I </a:t>
            </a:r>
            <a:r>
              <a:rPr lang="de-DE" b="1" dirty="0" err="1">
                <a:solidFill>
                  <a:schemeClr val="bg1"/>
                </a:solidFill>
              </a:rPr>
              <a:t>didn‘t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make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any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typo‘s</a:t>
            </a:r>
            <a:r>
              <a:rPr lang="de-DE" b="1" dirty="0">
                <a:solidFill>
                  <a:schemeClr val="bg1"/>
                </a:solidFill>
              </a:rPr>
              <a:t>“🥳🥳🥳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7E497C0-62BB-A3FD-8833-11C0D4B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Two words on error reporting</a:t>
            </a:r>
          </a:p>
        </p:txBody>
      </p:sp>
    </p:spTree>
    <p:extLst>
      <p:ext uri="{BB962C8B-B14F-4D97-AF65-F5344CB8AC3E}">
        <p14:creationId xmlns:p14="http://schemas.microsoft.com/office/powerpoint/2010/main" val="2862709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0E926-C890-53BE-2BF5-2FD5B57D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B8CF37-5B01-8BF9-4123-152B111D4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Node: </a:t>
            </a: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single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self-contained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within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server</a:t>
            </a:r>
            <a:r>
              <a:rPr lang="de-DE" dirty="0">
                <a:solidFill>
                  <a:schemeClr val="bg1"/>
                </a:solidFill>
              </a:rPr>
              <a:t>. A </a:t>
            </a:r>
            <a:r>
              <a:rPr lang="de-DE" dirty="0" err="1">
                <a:solidFill>
                  <a:schemeClr val="bg1"/>
                </a:solidFill>
              </a:rPr>
              <a:t>server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multiple </a:t>
            </a:r>
            <a:r>
              <a:rPr lang="de-DE" dirty="0" err="1">
                <a:solidFill>
                  <a:schemeClr val="bg1"/>
                </a:solidFill>
              </a:rPr>
              <a:t>nodes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CPU: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„Central Processing Unit“ – </a:t>
            </a:r>
            <a:r>
              <a:rPr lang="de-DE" dirty="0" err="1">
                <a:solidFill>
                  <a:schemeClr val="bg1"/>
                </a:solidFill>
              </a:rPr>
              <a:t>does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actual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computing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CPU‘s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higher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computational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speed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RAM: </a:t>
            </a:r>
            <a:r>
              <a:rPr lang="de-DE" dirty="0">
                <a:solidFill>
                  <a:schemeClr val="bg1"/>
                </a:solidFill>
              </a:rPr>
              <a:t>Random Access Memory (RAM); </a:t>
            </a:r>
            <a:r>
              <a:rPr lang="de-DE" dirty="0" err="1">
                <a:solidFill>
                  <a:schemeClr val="bg1"/>
                </a:solidFill>
              </a:rPr>
              <a:t>temporary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high-speed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storage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where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CPU </a:t>
            </a:r>
            <a:r>
              <a:rPr lang="de-DE" dirty="0" err="1">
                <a:solidFill>
                  <a:schemeClr val="bg1"/>
                </a:solidFill>
              </a:rPr>
              <a:t>holds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working</a:t>
            </a:r>
            <a:r>
              <a:rPr lang="de-DE" dirty="0">
                <a:solidFill>
                  <a:schemeClr val="bg1"/>
                </a:solidFill>
              </a:rPr>
              <a:t> on. „</a:t>
            </a:r>
            <a:r>
              <a:rPr lang="de-DE" dirty="0" err="1">
                <a:solidFill>
                  <a:schemeClr val="bg1"/>
                </a:solidFill>
              </a:rPr>
              <a:t>Active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memory</a:t>
            </a:r>
            <a:r>
              <a:rPr lang="de-DE" dirty="0">
                <a:solidFill>
                  <a:schemeClr val="bg1"/>
                </a:solidFill>
              </a:rPr>
              <a:t>“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75A699FE-AC3D-9991-7A03-7756D6F7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Nodes, CPU’s and Memory</a:t>
            </a:r>
          </a:p>
        </p:txBody>
      </p:sp>
    </p:spTree>
    <p:extLst>
      <p:ext uri="{BB962C8B-B14F-4D97-AF65-F5344CB8AC3E}">
        <p14:creationId xmlns:p14="http://schemas.microsoft.com/office/powerpoint/2010/main" val="2586375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3AA45-E5E0-D417-783F-EDFFFF6D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615CD-9871-498D-9F5A-AA56CA05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 err="1">
                <a:solidFill>
                  <a:schemeClr val="bg1"/>
                </a:solidFill>
              </a:rPr>
              <a:t>Example</a:t>
            </a:r>
            <a:r>
              <a:rPr lang="de-DE" b="1" dirty="0">
                <a:solidFill>
                  <a:schemeClr val="bg1"/>
                </a:solidFill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Laptop: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4+ Core (CPU – but same </a:t>
            </a:r>
            <a:r>
              <a:rPr lang="de-DE" dirty="0" err="1">
                <a:solidFill>
                  <a:schemeClr val="bg1"/>
                </a:solidFill>
              </a:rPr>
              <a:t>chip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RAM 16Gb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32 GB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Mjolnir </a:t>
            </a:r>
            <a:r>
              <a:rPr lang="de-DE" b="1" dirty="0" err="1">
                <a:solidFill>
                  <a:schemeClr val="bg1"/>
                </a:solidFill>
              </a:rPr>
              <a:t>server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24 Nodes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CPU: 56-256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512-2092 GB RAM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282CA54-A96D-4C1A-86E0-06863BAB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Nodes, CPU’s and Memory</a:t>
            </a:r>
          </a:p>
        </p:txBody>
      </p:sp>
    </p:spTree>
    <p:extLst>
      <p:ext uri="{BB962C8B-B14F-4D97-AF65-F5344CB8AC3E}">
        <p14:creationId xmlns:p14="http://schemas.microsoft.com/office/powerpoint/2010/main" val="2392123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F895C-A71A-AD17-18BA-1B1A76E2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367B3C-B22C-9E47-B6D3-C1DD15240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b="1" dirty="0">
                <a:solidFill>
                  <a:schemeClr val="bg1"/>
                </a:solidFill>
              </a:rPr>
              <a:t>Log-in </a:t>
            </a:r>
            <a:r>
              <a:rPr lang="de-DE" dirty="0" err="1">
                <a:solidFill>
                  <a:schemeClr val="bg1"/>
                </a:solidFill>
              </a:rPr>
              <a:t>nodes</a:t>
            </a:r>
            <a:r>
              <a:rPr lang="de-DE" dirty="0">
                <a:solidFill>
                  <a:schemeClr val="bg1"/>
                </a:solidFill>
              </a:rPr>
              <a:t> … </a:t>
            </a:r>
            <a:r>
              <a:rPr lang="de-DE" dirty="0" err="1">
                <a:solidFill>
                  <a:schemeClr val="bg1"/>
                </a:solidFill>
              </a:rPr>
              <a:t>are</a:t>
            </a:r>
            <a:r>
              <a:rPr lang="de-DE" dirty="0">
                <a:solidFill>
                  <a:schemeClr val="bg1"/>
                </a:solidFill>
              </a:rPr>
              <a:t> not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computing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nodes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Solutions: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interactive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node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example</a:t>
            </a:r>
            <a:r>
              <a:rPr lang="de-DE" dirty="0">
                <a:solidFill>
                  <a:schemeClr val="bg1"/>
                </a:solidFill>
              </a:rPr>
              <a:t> on GitHub)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&amp; </a:t>
            </a:r>
            <a:r>
              <a:rPr lang="de-DE" dirty="0" err="1">
                <a:solidFill>
                  <a:schemeClr val="bg1"/>
                </a:solidFill>
              </a:rPr>
              <a:t>job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submission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0EC5E74-50F1-63CD-9CF8-823B6C99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Nodes, CPU’s and Memory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402A3F5-FD1D-1114-6005-365A3D72EC13}"/>
              </a:ext>
            </a:extLst>
          </p:cNvPr>
          <p:cNvSpPr/>
          <p:nvPr/>
        </p:nvSpPr>
        <p:spPr>
          <a:xfrm>
            <a:off x="1797950" y="3120887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Local computer</a:t>
            </a:r>
            <a:endParaRPr lang="en-NL" b="1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29E28A5B-B04E-504C-D1F4-9FB9DF6F8799}"/>
              </a:ext>
            </a:extLst>
          </p:cNvPr>
          <p:cNvSpPr/>
          <p:nvPr/>
        </p:nvSpPr>
        <p:spPr>
          <a:xfrm>
            <a:off x="4549432" y="2994515"/>
            <a:ext cx="1918252" cy="46382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Internet</a:t>
            </a:r>
            <a:endParaRPr lang="en-NL" b="1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4796417-FE8A-4D1F-CCF6-46EEC2CF8686}"/>
              </a:ext>
            </a:extLst>
          </p:cNvPr>
          <p:cNvSpPr/>
          <p:nvPr/>
        </p:nvSpPr>
        <p:spPr>
          <a:xfrm>
            <a:off x="7300914" y="3120886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Log-in node</a:t>
            </a:r>
            <a:endParaRPr lang="en-NL" b="1" dirty="0"/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8F227A31-CB61-F841-B460-DD7FB551D257}"/>
              </a:ext>
            </a:extLst>
          </p:cNvPr>
          <p:cNvCxnSpPr>
            <a:cxnSpLocks/>
          </p:cNvCxnSpPr>
          <p:nvPr/>
        </p:nvCxnSpPr>
        <p:spPr>
          <a:xfrm flipV="1">
            <a:off x="3716202" y="3545129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4B85621A-2649-B156-92F4-8412186A8CE7}"/>
              </a:ext>
            </a:extLst>
          </p:cNvPr>
          <p:cNvCxnSpPr>
            <a:cxnSpLocks/>
          </p:cNvCxnSpPr>
          <p:nvPr/>
        </p:nvCxnSpPr>
        <p:spPr>
          <a:xfrm flipH="1" flipV="1">
            <a:off x="3716202" y="3969371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hoek 8">
            <a:extLst>
              <a:ext uri="{FF2B5EF4-FFF2-40B4-BE49-F238E27FC236}">
                <a16:creationId xmlns:a16="http://schemas.microsoft.com/office/drawing/2014/main" id="{DA17BB0E-4C58-4961-8C21-51B55C935930}"/>
              </a:ext>
            </a:extLst>
          </p:cNvPr>
          <p:cNvSpPr/>
          <p:nvPr/>
        </p:nvSpPr>
        <p:spPr>
          <a:xfrm>
            <a:off x="9479855" y="2093021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Computing node</a:t>
            </a:r>
            <a:endParaRPr lang="en-NL" b="1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CC1B80CE-4AE9-1D6D-EDA9-D2DDFDB025BB}"/>
              </a:ext>
            </a:extLst>
          </p:cNvPr>
          <p:cNvSpPr/>
          <p:nvPr/>
        </p:nvSpPr>
        <p:spPr>
          <a:xfrm>
            <a:off x="9479855" y="3545129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Computing node</a:t>
            </a:r>
            <a:endParaRPr lang="en-NL" b="1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ABCB31FF-9B19-BFFC-7C86-EAD92AB571B0}"/>
              </a:ext>
            </a:extLst>
          </p:cNvPr>
          <p:cNvSpPr/>
          <p:nvPr/>
        </p:nvSpPr>
        <p:spPr>
          <a:xfrm>
            <a:off x="9479855" y="4997237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Etc. </a:t>
            </a:r>
            <a:endParaRPr lang="en-NL" b="1" dirty="0"/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E36052B9-07F9-523B-329D-9D0F3D5973D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9219165" y="2755803"/>
            <a:ext cx="260690" cy="919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FB029CD6-6B66-9BCA-FFDA-649A3621F0FD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9219165" y="3674809"/>
            <a:ext cx="260690" cy="533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649BA418-2909-AC00-1737-97F5765E95B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9225892" y="3674809"/>
            <a:ext cx="253963" cy="1985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048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4EB26-26B1-4D0B-6534-2D0242A3E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DC20096-AF12-9A31-E8B2-B85EFC60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2: log in to the server  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ECD0A3D1-B6A8-3DD6-40EE-4D62E782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50322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53AC0-8275-6B86-6CE6-568B5599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9E288-0B91-5ED5-2BC4-00A1AAD7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3489EED-3C38-2970-4306-C49C1013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Local – internet – Server 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7ADE45A4-6AA9-FAA1-B2B8-1CBCAF1B440A}"/>
              </a:ext>
            </a:extLst>
          </p:cNvPr>
          <p:cNvSpPr/>
          <p:nvPr/>
        </p:nvSpPr>
        <p:spPr>
          <a:xfrm>
            <a:off x="2445027" y="2514600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Local computer</a:t>
            </a:r>
            <a:endParaRPr lang="en-NL" b="1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B03B4762-7EDD-9673-9027-50C47D6EC6ED}"/>
              </a:ext>
            </a:extLst>
          </p:cNvPr>
          <p:cNvSpPr/>
          <p:nvPr/>
        </p:nvSpPr>
        <p:spPr>
          <a:xfrm>
            <a:off x="5196509" y="2388228"/>
            <a:ext cx="1918252" cy="46382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Internet</a:t>
            </a:r>
            <a:endParaRPr lang="en-NL" b="1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39BE076F-87A2-633F-EBC6-8159EA0EB00F}"/>
              </a:ext>
            </a:extLst>
          </p:cNvPr>
          <p:cNvSpPr/>
          <p:nvPr/>
        </p:nvSpPr>
        <p:spPr>
          <a:xfrm>
            <a:off x="7947991" y="2514600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Server</a:t>
            </a:r>
            <a:endParaRPr lang="en-NL" b="1" dirty="0"/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A1714850-C4F7-0DBE-1D19-9ED79FE4EB22}"/>
              </a:ext>
            </a:extLst>
          </p:cNvPr>
          <p:cNvCxnSpPr>
            <a:cxnSpLocks/>
          </p:cNvCxnSpPr>
          <p:nvPr/>
        </p:nvCxnSpPr>
        <p:spPr>
          <a:xfrm flipV="1">
            <a:off x="4363279" y="2938842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DC3D5D80-A18A-72C3-E7AA-D9271004CDB1}"/>
              </a:ext>
            </a:extLst>
          </p:cNvPr>
          <p:cNvCxnSpPr>
            <a:cxnSpLocks/>
          </p:cNvCxnSpPr>
          <p:nvPr/>
        </p:nvCxnSpPr>
        <p:spPr>
          <a:xfrm flipH="1" flipV="1">
            <a:off x="4363279" y="3363084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840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1614A-9C16-3AC4-A586-242196E8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9AAF33-B2E9-088B-584B-6E94ACB2C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9AF2DF1-8D1C-DCCA-FA00-3C70EB20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Local – internet – Screen – Server  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42F3DBAA-B77C-51B4-34F8-9946A32E6F9D}"/>
              </a:ext>
            </a:extLst>
          </p:cNvPr>
          <p:cNvSpPr/>
          <p:nvPr/>
        </p:nvSpPr>
        <p:spPr>
          <a:xfrm>
            <a:off x="2445027" y="2514600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Local computer</a:t>
            </a:r>
            <a:endParaRPr lang="en-NL" b="1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B7619439-2BFD-888B-21A4-C0F7A735BA23}"/>
              </a:ext>
            </a:extLst>
          </p:cNvPr>
          <p:cNvSpPr/>
          <p:nvPr/>
        </p:nvSpPr>
        <p:spPr>
          <a:xfrm>
            <a:off x="5196509" y="2388228"/>
            <a:ext cx="1918252" cy="46382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Internet</a:t>
            </a:r>
            <a:endParaRPr lang="en-NL" b="1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18C1F42-50E1-6643-4B11-D72D88952626}"/>
              </a:ext>
            </a:extLst>
          </p:cNvPr>
          <p:cNvSpPr/>
          <p:nvPr/>
        </p:nvSpPr>
        <p:spPr>
          <a:xfrm>
            <a:off x="8612254" y="3310248"/>
            <a:ext cx="1918252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Server</a:t>
            </a:r>
            <a:endParaRPr lang="en-NL" b="1" dirty="0"/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974A38B9-48E9-9179-6BB2-C9E0A1FD1AA2}"/>
              </a:ext>
            </a:extLst>
          </p:cNvPr>
          <p:cNvCxnSpPr>
            <a:cxnSpLocks/>
          </p:cNvCxnSpPr>
          <p:nvPr/>
        </p:nvCxnSpPr>
        <p:spPr>
          <a:xfrm flipV="1">
            <a:off x="4363279" y="2938842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15C0FA8-1E94-9342-6E5A-5B7EDB38F2D7}"/>
              </a:ext>
            </a:extLst>
          </p:cNvPr>
          <p:cNvCxnSpPr>
            <a:cxnSpLocks/>
          </p:cNvCxnSpPr>
          <p:nvPr/>
        </p:nvCxnSpPr>
        <p:spPr>
          <a:xfrm flipH="1" flipV="1">
            <a:off x="4363279" y="3363084"/>
            <a:ext cx="35847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hoek 9">
            <a:extLst>
              <a:ext uri="{FF2B5EF4-FFF2-40B4-BE49-F238E27FC236}">
                <a16:creationId xmlns:a16="http://schemas.microsoft.com/office/drawing/2014/main" id="{D242B90B-914E-B733-DBC9-A5B0FC95F02C}"/>
              </a:ext>
            </a:extLst>
          </p:cNvPr>
          <p:cNvSpPr/>
          <p:nvPr/>
        </p:nvSpPr>
        <p:spPr>
          <a:xfrm>
            <a:off x="7947990" y="2600911"/>
            <a:ext cx="1749287" cy="11529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SCREEN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925245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20566-2F6A-971C-81FA-4EAAF499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878C582-6DCB-FCEA-560C-1258F8CE7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3: Use a screen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D3CF1A16-ABB1-05F1-DD4B-C3CC815769E3}"/>
              </a:ext>
            </a:extLst>
          </p:cNvPr>
          <p:cNvSpPr txBox="1">
            <a:spLocks/>
          </p:cNvSpPr>
          <p:nvPr/>
        </p:nvSpPr>
        <p:spPr>
          <a:xfrm>
            <a:off x="838200" y="1499140"/>
            <a:ext cx="955585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21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2082F-C047-D5F7-47EE-578766C5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880ED1-7A16-260D-B0C6-668879F0A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140"/>
            <a:ext cx="95558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We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files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between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local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 err="1">
                <a:solidFill>
                  <a:schemeClr val="bg1"/>
                </a:solidFill>
              </a:rPr>
              <a:t>server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What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folder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structure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Expences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storage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 err="1">
                <a:solidFill>
                  <a:schemeClr val="bg1"/>
                </a:solidFill>
              </a:rPr>
              <a:t>What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we</a:t>
            </a:r>
            <a:r>
              <a:rPr lang="de-DE" dirty="0">
                <a:solidFill>
                  <a:schemeClr val="bg1"/>
                </a:solidFill>
              </a:rPr>
              <a:t> do?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Zip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endParaRPr lang="de-DE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de-DE" dirty="0">
                <a:solidFill>
                  <a:schemeClr val="bg1"/>
                </a:solidFill>
              </a:rPr>
              <a:t>Remove intermediate </a:t>
            </a:r>
            <a:r>
              <a:rPr lang="de-DE" dirty="0" err="1">
                <a:solidFill>
                  <a:schemeClr val="bg1"/>
                </a:solidFill>
              </a:rPr>
              <a:t>files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4D919DE6-DF25-F861-6532-9FD6F9A6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Files &amp; Folders</a:t>
            </a:r>
          </a:p>
        </p:txBody>
      </p:sp>
    </p:spTree>
    <p:extLst>
      <p:ext uri="{BB962C8B-B14F-4D97-AF65-F5344CB8AC3E}">
        <p14:creationId xmlns:p14="http://schemas.microsoft.com/office/powerpoint/2010/main" val="3137255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13F06-C1C7-65FC-EF43-9AFA7BDA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4A952D-2B22-C02F-0894-83D5F33F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ssh &lt;username&gt;@&lt;remote_host&gt;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>
                <a:solidFill>
                  <a:schemeClr val="bg1"/>
                </a:solidFill>
              </a:rPr>
              <a:t>scp</a:t>
            </a:r>
            <a:r>
              <a:rPr lang="en-US" dirty="0">
                <a:solidFill>
                  <a:schemeClr val="bg1"/>
                </a:solidFill>
              </a:rPr>
              <a:t> /path/to/local/file &lt;username&gt;@&lt;remote_host&gt;:/path/to/remote/directory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B4C0110-F416-6BF5-E5E5-353CFE46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Files &amp; Folders</a:t>
            </a:r>
          </a:p>
        </p:txBody>
      </p:sp>
    </p:spTree>
    <p:extLst>
      <p:ext uri="{BB962C8B-B14F-4D97-AF65-F5344CB8AC3E}">
        <p14:creationId xmlns:p14="http://schemas.microsoft.com/office/powerpoint/2010/main" val="2017397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A5AB6-B05D-62B2-987D-CA5B0A66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C6E32-05E7-8293-ABCB-9F144488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3527848-C85C-DDB4-CDF7-02DB3AE0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4: downloading</a:t>
            </a:r>
          </a:p>
        </p:txBody>
      </p:sp>
    </p:spTree>
    <p:extLst>
      <p:ext uri="{BB962C8B-B14F-4D97-AF65-F5344CB8AC3E}">
        <p14:creationId xmlns:p14="http://schemas.microsoft.com/office/powerpoint/2010/main" val="1557447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D679F-7F55-794D-EA70-D1A9C9FA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EA1082-278C-A4AF-A0A6-B5858D7B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Using a “*”; it can mean anything e.g.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File_*.fq.gz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1_F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1_R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2_F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2_R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output.txt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File_1_*.fq.gz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1_F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</a:t>
            </a:r>
            <a:r>
              <a:rPr lang="en-US" sz="2400" dirty="0">
                <a:solidFill>
                  <a:schemeClr val="bg1"/>
                </a:solidFill>
                <a:highlight>
                  <a:srgbClr val="FF0000"/>
                </a:highlight>
              </a:rPr>
              <a:t>1_R</a:t>
            </a:r>
            <a:r>
              <a:rPr lang="en-US" sz="2400" dirty="0">
                <a:solidFill>
                  <a:schemeClr val="bg1"/>
                </a:solidFill>
              </a:rPr>
              <a:t>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File_2_F.fq.gz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File_2_R.fq.gz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CC6F4F2-A271-F204-F3D2-CBF3740F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Wildcards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325223A0-F227-A2FC-1640-D9D73D36C8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7417722" y="349249"/>
            <a:ext cx="1677565" cy="105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138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3AA44-3840-3DC7-4730-B8F5A2D8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31B155-FDCB-8CBF-A259-3D4584E5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3D23DCC-22CF-03B9-FB2B-CBDE372E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5.1 More downloading</a:t>
            </a:r>
          </a:p>
        </p:txBody>
      </p:sp>
    </p:spTree>
    <p:extLst>
      <p:ext uri="{BB962C8B-B14F-4D97-AF65-F5344CB8AC3E}">
        <p14:creationId xmlns:p14="http://schemas.microsoft.com/office/powerpoint/2010/main" val="47509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00792-47AC-23B3-0ECC-04DC80FD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F0C661-3187-05FD-8F82-BCF70848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Ctrl + C	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	Cancel a job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Magic “tab” 	Fill out the remaining folder or file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“history” 		find back what commands you were running before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“clear”		clear your screen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  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1760513-B4BF-1216-E0FA-5712C22C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Using keys</a:t>
            </a:r>
          </a:p>
        </p:txBody>
      </p:sp>
    </p:spTree>
    <p:extLst>
      <p:ext uri="{BB962C8B-B14F-4D97-AF65-F5344CB8AC3E}">
        <p14:creationId xmlns:p14="http://schemas.microsoft.com/office/powerpoint/2010/main" val="2962483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C5FE1-6BC1-08A9-0C88-3956D529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9B81FF-0B17-B582-63BF-1663E03CC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8CD3665-0625-B422-3788-C7CDE092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5.2 using the “tab”</a:t>
            </a:r>
          </a:p>
        </p:txBody>
      </p:sp>
    </p:spTree>
    <p:extLst>
      <p:ext uri="{BB962C8B-B14F-4D97-AF65-F5344CB8AC3E}">
        <p14:creationId xmlns:p14="http://schemas.microsoft.com/office/powerpoint/2010/main" val="803202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5B165-197F-E484-8D2D-6BDEC24B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6F8880-9A1E-BBD0-6205-F91BA650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552D1FE-B355-E69F-465D-D26E104A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5.3 &amp; 5.4</a:t>
            </a:r>
          </a:p>
        </p:txBody>
      </p:sp>
    </p:spTree>
    <p:extLst>
      <p:ext uri="{BB962C8B-B14F-4D97-AF65-F5344CB8AC3E}">
        <p14:creationId xmlns:p14="http://schemas.microsoft.com/office/powerpoint/2010/main" val="2096399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86F98-2934-2A69-F8B5-AB16CBD9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C19484-D1A7-ED1C-139C-609F01BC9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21BFA7A-69C4-F85B-E569-90FBF35C8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Executing commands</a:t>
            </a:r>
          </a:p>
        </p:txBody>
      </p:sp>
      <p:pic>
        <p:nvPicPr>
          <p:cNvPr id="2" name="Afbeelding 1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1038C76E-7815-917B-92F2-D1FE3F0B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740"/>
          <a:stretch>
            <a:fillRect/>
          </a:stretch>
        </p:blipFill>
        <p:spPr>
          <a:xfrm>
            <a:off x="669405" y="1366465"/>
            <a:ext cx="10853190" cy="1577812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8E5B6AF4-6C19-896E-661B-A9E766C72352}"/>
              </a:ext>
            </a:extLst>
          </p:cNvPr>
          <p:cNvSpPr/>
          <p:nvPr/>
        </p:nvSpPr>
        <p:spPr>
          <a:xfrm>
            <a:off x="675239" y="1372948"/>
            <a:ext cx="1388833" cy="341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060A6CD0-E8DF-5D6D-0C83-4EF6B76F963F}"/>
              </a:ext>
            </a:extLst>
          </p:cNvPr>
          <p:cNvSpPr/>
          <p:nvPr/>
        </p:nvSpPr>
        <p:spPr>
          <a:xfrm>
            <a:off x="2213987" y="1372948"/>
            <a:ext cx="1060155" cy="341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6BC15AF-61A7-98D6-2024-764D81C5B35E}"/>
              </a:ext>
            </a:extLst>
          </p:cNvPr>
          <p:cNvSpPr/>
          <p:nvPr/>
        </p:nvSpPr>
        <p:spPr>
          <a:xfrm>
            <a:off x="3752735" y="1372948"/>
            <a:ext cx="583291" cy="3416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07C4947-C95F-BCE5-AC37-65F5B02BFB62}"/>
              </a:ext>
            </a:extLst>
          </p:cNvPr>
          <p:cNvSpPr txBox="1">
            <a:spLocks/>
          </p:cNvSpPr>
          <p:nvPr/>
        </p:nvSpPr>
        <p:spPr>
          <a:xfrm>
            <a:off x="669405" y="2743027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User name @ server: ~$ COMMAND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NL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263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717F3-793D-2E73-FEF2-922370AF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0A21AD-98D6-0CE2-D82F-2FC7A7DA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E4779C8-57F4-1FE1-67C3-242CA866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Executing commands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8A7956F-6AA0-12E0-7017-A117A166E0CA}"/>
              </a:ext>
            </a:extLst>
          </p:cNvPr>
          <p:cNvSpPr txBox="1">
            <a:spLocks/>
          </p:cNvSpPr>
          <p:nvPr/>
        </p:nvSpPr>
        <p:spPr>
          <a:xfrm>
            <a:off x="669405" y="2743027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Command, parameter (-o), arguments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NL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A2B373A-8CBE-EF2E-19F4-C3A67874F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48" y="2074950"/>
            <a:ext cx="9688277" cy="704948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A5C3E972-D509-AC59-45C5-B554D9C17919}"/>
              </a:ext>
            </a:extLst>
          </p:cNvPr>
          <p:cNvSpPr/>
          <p:nvPr/>
        </p:nvSpPr>
        <p:spPr>
          <a:xfrm>
            <a:off x="838201" y="2524178"/>
            <a:ext cx="695632" cy="2557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1BB65B1-5F43-46D0-038B-2FA00B3F4C38}"/>
              </a:ext>
            </a:extLst>
          </p:cNvPr>
          <p:cNvSpPr/>
          <p:nvPr/>
        </p:nvSpPr>
        <p:spPr>
          <a:xfrm>
            <a:off x="1533833" y="2527383"/>
            <a:ext cx="285135" cy="252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FEB41B4-415D-9FC4-FE2A-D668AD610034}"/>
              </a:ext>
            </a:extLst>
          </p:cNvPr>
          <p:cNvSpPr/>
          <p:nvPr/>
        </p:nvSpPr>
        <p:spPr>
          <a:xfrm>
            <a:off x="1812192" y="2524178"/>
            <a:ext cx="6692711" cy="262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07A0EBA6-245D-70B0-54E7-CDB2AA60D412}"/>
              </a:ext>
            </a:extLst>
          </p:cNvPr>
          <p:cNvSpPr/>
          <p:nvPr/>
        </p:nvSpPr>
        <p:spPr>
          <a:xfrm>
            <a:off x="8552018" y="2524178"/>
            <a:ext cx="1849391" cy="262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7194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7F24A-90D8-E2B2-00E9-0663F84D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4B502-F9C6-C4AB-6321-1FE2039E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2112E9B-93D7-B53C-095C-DBD30078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User manual?</a:t>
            </a:r>
          </a:p>
        </p:txBody>
      </p:sp>
      <p:pic>
        <p:nvPicPr>
          <p:cNvPr id="2" name="WhatsApp Video 2026-02-16 at 09.25.14">
            <a:hlinkClick r:id="" action="ppaction://media"/>
            <a:extLst>
              <a:ext uri="{FF2B5EF4-FFF2-40B4-BE49-F238E27FC236}">
                <a16:creationId xmlns:a16="http://schemas.microsoft.com/office/drawing/2014/main" id="{B5F07FF7-4F09-99A5-B012-C8494BFDBA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993689" y="1863141"/>
            <a:ext cx="4204622" cy="235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8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7F24A-90D8-E2B2-00E9-0663F84D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4B502-F9C6-C4AB-6321-1FE2039E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2112E9B-93D7-B53C-095C-DBD30078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User manual?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8D5E5C7-C378-80A5-EB10-24FE76AF0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56042"/>
            <a:ext cx="5080819" cy="333429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28726F9-3A51-D078-A80F-E15C90C68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196670"/>
            <a:ext cx="5484357" cy="38041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51B4B3D-BA14-8F31-CDCF-F98DC0C85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8" y="2765519"/>
            <a:ext cx="4795686" cy="3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95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CDBB-572B-780D-D446-15696852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48FF22-527A-B434-C0FD-A4546EFC8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489D89A2-E427-C847-D5EB-690BEB2F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man screen</a:t>
            </a:r>
          </a:p>
        </p:txBody>
      </p:sp>
      <p:pic>
        <p:nvPicPr>
          <p:cNvPr id="4" name="Afbeelding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1935DB8A-E89A-E75A-270C-50727C58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93" y="997583"/>
            <a:ext cx="10609006" cy="5659664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7F20C32B-2609-A609-3A44-50E4AF8E526E}"/>
              </a:ext>
            </a:extLst>
          </p:cNvPr>
          <p:cNvSpPr/>
          <p:nvPr/>
        </p:nvSpPr>
        <p:spPr>
          <a:xfrm>
            <a:off x="744792" y="1197703"/>
            <a:ext cx="307260" cy="208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337801E0-67DF-1CA2-76F8-FDFFCA1BD739}"/>
              </a:ext>
            </a:extLst>
          </p:cNvPr>
          <p:cNvSpPr/>
          <p:nvPr/>
        </p:nvSpPr>
        <p:spPr>
          <a:xfrm>
            <a:off x="744792" y="1551883"/>
            <a:ext cx="553066" cy="158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270BE56B-B480-1A1C-12CB-23E2F6938590}"/>
              </a:ext>
            </a:extLst>
          </p:cNvPr>
          <p:cNvSpPr/>
          <p:nvPr/>
        </p:nvSpPr>
        <p:spPr>
          <a:xfrm>
            <a:off x="744792" y="2142844"/>
            <a:ext cx="769376" cy="158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DC451F73-B8AD-CE98-1BE8-E4AC089C0DC8}"/>
              </a:ext>
            </a:extLst>
          </p:cNvPr>
          <p:cNvSpPr/>
          <p:nvPr/>
        </p:nvSpPr>
        <p:spPr>
          <a:xfrm>
            <a:off x="744792" y="6159703"/>
            <a:ext cx="916860" cy="132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7147F291-5368-F32C-6BDF-B9F7E7410663}"/>
              </a:ext>
            </a:extLst>
          </p:cNvPr>
          <p:cNvSpPr/>
          <p:nvPr/>
        </p:nvSpPr>
        <p:spPr>
          <a:xfrm>
            <a:off x="754624" y="6524502"/>
            <a:ext cx="3571569" cy="1327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217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F003E-1B46-DC91-E40E-68F94445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0B51CB-F733-775C-0722-19208879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968110C-5236-1024-879C-7C54517A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screen -h</a:t>
            </a:r>
          </a:p>
        </p:txBody>
      </p:sp>
      <p:pic>
        <p:nvPicPr>
          <p:cNvPr id="5" name="Afbeelding 4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A0A5C9B7-D879-45BE-D8D2-4F9F09826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84" y="1036912"/>
            <a:ext cx="8925232" cy="8035301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5A809B88-9D8F-5AD7-4087-E72CC46B62D0}"/>
              </a:ext>
            </a:extLst>
          </p:cNvPr>
          <p:cNvSpPr/>
          <p:nvPr/>
        </p:nvSpPr>
        <p:spPr>
          <a:xfrm>
            <a:off x="1633383" y="1203195"/>
            <a:ext cx="3508887" cy="4216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02B60B36-7433-5C89-306D-7B44AE5F26BF}"/>
              </a:ext>
            </a:extLst>
          </p:cNvPr>
          <p:cNvSpPr/>
          <p:nvPr/>
        </p:nvSpPr>
        <p:spPr>
          <a:xfrm>
            <a:off x="1633383" y="1791132"/>
            <a:ext cx="901095" cy="2265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6880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A4453-C25C-DC65-C6D8-58662338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4E4440-910E-7C09-FA58-31082694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58FE487-54AE-0E14-09CA-891B23E5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Finding which version</a:t>
            </a:r>
          </a:p>
        </p:txBody>
      </p:sp>
      <p:pic>
        <p:nvPicPr>
          <p:cNvPr id="8" name="Afbeelding 7" descr="Afbeelding met tekst, Lettertype, schermopname, typografie&#10;&#10;Door AI gegenereerde inhoud is mogelijk onjuist.">
            <a:extLst>
              <a:ext uri="{FF2B5EF4-FFF2-40B4-BE49-F238E27FC236}">
                <a16:creationId xmlns:a16="http://schemas.microsoft.com/office/drawing/2014/main" id="{66230523-6587-A3BE-656E-BBB43071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744" y="2103316"/>
            <a:ext cx="6940512" cy="13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88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1799B-DEF0-E870-AEB1-A495BAA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C6FE5B-2ECA-233C-0913-74A3244DF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310238C-42C7-3B77-D3A1-A4648D80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6</a:t>
            </a:r>
          </a:p>
        </p:txBody>
      </p:sp>
    </p:spTree>
    <p:extLst>
      <p:ext uri="{BB962C8B-B14F-4D97-AF65-F5344CB8AC3E}">
        <p14:creationId xmlns:p14="http://schemas.microsoft.com/office/powerpoint/2010/main" val="660486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5D337-4359-3478-3263-5B84CA70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9F1574-366D-6391-2BA9-D7767DF3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D566799-DE34-07D0-86C9-9D0B4BF4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Coffee break</a:t>
            </a:r>
          </a:p>
        </p:txBody>
      </p:sp>
    </p:spTree>
    <p:extLst>
      <p:ext uri="{BB962C8B-B14F-4D97-AF65-F5344CB8AC3E}">
        <p14:creationId xmlns:p14="http://schemas.microsoft.com/office/powerpoint/2010/main" val="1170752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906FF-587D-08B8-28C4-7B608D05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528FCA-34B8-0D96-8EE2-7F2FEDF3E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/>
                </a:solidFill>
              </a:rPr>
              <a:t>pwd</a:t>
            </a:r>
            <a:r>
              <a:rPr lang="en-US" sz="2800" dirty="0">
                <a:solidFill>
                  <a:schemeClr val="bg1"/>
                </a:solidFill>
              </a:rPr>
              <a:t> : Print Working Directory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cd : Change Directory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</a:rPr>
              <a:t>cd ../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</a:rPr>
              <a:t>cd ~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</a:rPr>
              <a:t>cd &lt;tab&gt; &lt;tab&gt;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ls : </a:t>
            </a:r>
            <a:r>
              <a:rPr lang="en-US" sz="2800" dirty="0" err="1">
                <a:solidFill>
                  <a:schemeClr val="bg1"/>
                </a:solidFill>
              </a:rPr>
              <a:t>LiSt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/>
                </a:solidFill>
              </a:rPr>
              <a:t>mkdir</a:t>
            </a:r>
            <a:r>
              <a:rPr lang="en-US" sz="2800" dirty="0">
                <a:solidFill>
                  <a:schemeClr val="bg1"/>
                </a:solidFill>
              </a:rPr>
              <a:t>: </a:t>
            </a:r>
            <a:r>
              <a:rPr lang="en-US" sz="2800" dirty="0" err="1">
                <a:solidFill>
                  <a:schemeClr val="bg1"/>
                </a:solidFill>
              </a:rPr>
              <a:t>MaKe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DIRectory</a:t>
            </a:r>
            <a:endParaRPr lang="en-US" sz="28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/>
                </a:solidFill>
              </a:rPr>
              <a:t>mkdir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Intro_Unix</a:t>
            </a:r>
            <a:r>
              <a:rPr lang="en-US" dirty="0">
                <a:solidFill>
                  <a:schemeClr val="bg1"/>
                </a:solidFill>
              </a:rPr>
              <a:t>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29E0D7C-1C47-635F-A31C-7E57EB008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Most used commands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80ACBE3-8A25-284B-D199-DBB59C967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5563"/>
            <a:ext cx="3983682" cy="735941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CDABB74-0D05-03C8-0139-C2E912180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450" y="3015440"/>
            <a:ext cx="3947320" cy="735940"/>
          </a:xfrm>
          <a:prstGeom prst="rect">
            <a:avLst/>
          </a:prstGeom>
        </p:spPr>
      </p:pic>
      <p:pic>
        <p:nvPicPr>
          <p:cNvPr id="10" name="Afbeelding 9" descr="Afbeelding met tekst, Lettertype, schermopname, Graphics&#10;&#10;Door AI gegenereerde inhoud is mogelijk onjuist.">
            <a:extLst>
              <a:ext uri="{FF2B5EF4-FFF2-40B4-BE49-F238E27FC236}">
                <a16:creationId xmlns:a16="http://schemas.microsoft.com/office/drawing/2014/main" id="{08C09451-6B6C-AD74-BFED-8E48DA2DF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450" y="4186687"/>
            <a:ext cx="5124584" cy="107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99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30548-4A23-7EF0-29EC-DEBD8822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CC4D53-78D8-513C-2FE7-814C082FA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Bonus; “tree”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E53DF6D-B08C-97DC-CBB1-D3D721D4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Most used commands</a:t>
            </a:r>
          </a:p>
        </p:txBody>
      </p:sp>
      <p:pic>
        <p:nvPicPr>
          <p:cNvPr id="4" name="Afbeelding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6AC02AAF-02A1-36CC-C492-EBACB7E1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452" y="2436801"/>
            <a:ext cx="5533418" cy="3727602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AF5958DB-CFDB-367E-042D-CF79D00F5D22}"/>
              </a:ext>
            </a:extLst>
          </p:cNvPr>
          <p:cNvSpPr/>
          <p:nvPr/>
        </p:nvSpPr>
        <p:spPr>
          <a:xfrm>
            <a:off x="7136296" y="3706753"/>
            <a:ext cx="1123121" cy="45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6A16A71-B8BA-866D-D62C-DAFB6A251297}"/>
              </a:ext>
            </a:extLst>
          </p:cNvPr>
          <p:cNvSpPr/>
          <p:nvPr/>
        </p:nvSpPr>
        <p:spPr>
          <a:xfrm>
            <a:off x="5821070" y="2436801"/>
            <a:ext cx="1315226" cy="45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5806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89852-03E2-133F-85D7-B414EE0A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BD0ED1-67EB-D691-03EB-703BC6348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CEE5075-27DE-8C99-0A7B-D831FE0C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7</a:t>
            </a:r>
          </a:p>
        </p:txBody>
      </p:sp>
    </p:spTree>
    <p:extLst>
      <p:ext uri="{BB962C8B-B14F-4D97-AF65-F5344CB8AC3E}">
        <p14:creationId xmlns:p14="http://schemas.microsoft.com/office/powerpoint/2010/main" val="2132435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05295-DF2C-0B1A-FAAF-8098EDCF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097F37-5420-2294-EC6E-FB07AB5B5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mv: </a:t>
            </a:r>
            <a:r>
              <a:rPr lang="en-US" sz="2400" dirty="0" err="1">
                <a:solidFill>
                  <a:schemeClr val="bg1"/>
                </a:solidFill>
              </a:rPr>
              <a:t>MoVe</a:t>
            </a:r>
            <a:r>
              <a:rPr lang="en-US" sz="2400" dirty="0">
                <a:solidFill>
                  <a:schemeClr val="bg1"/>
                </a:solidFill>
              </a:rPr>
              <a:t> &lt;old file&gt; &lt;same file with new name or location&gt;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cp (</a:t>
            </a:r>
            <a:r>
              <a:rPr lang="en-US" sz="2400" dirty="0" err="1">
                <a:solidFill>
                  <a:schemeClr val="bg1"/>
                </a:solidFill>
              </a:rPr>
              <a:t>scp</a:t>
            </a:r>
            <a:r>
              <a:rPr lang="en-US" sz="2400" dirty="0">
                <a:solidFill>
                  <a:schemeClr val="bg1"/>
                </a:solidFill>
              </a:rPr>
              <a:t>): </a:t>
            </a:r>
            <a:r>
              <a:rPr lang="en-US" sz="2400" dirty="0" err="1">
                <a:solidFill>
                  <a:schemeClr val="bg1"/>
                </a:solidFill>
              </a:rPr>
              <a:t>CoPy</a:t>
            </a:r>
            <a:r>
              <a:rPr lang="en-US" sz="2400" dirty="0">
                <a:solidFill>
                  <a:schemeClr val="bg1"/>
                </a:solidFill>
              </a:rPr>
              <a:t> &lt;old file&gt; &lt;copy (new) file&gt;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rm: </a:t>
            </a:r>
            <a:r>
              <a:rPr lang="en-US" sz="2400" dirty="0" err="1">
                <a:solidFill>
                  <a:schemeClr val="bg1"/>
                </a:solidFill>
              </a:rPr>
              <a:t>ReMove</a:t>
            </a:r>
            <a:r>
              <a:rPr lang="en-US" sz="2400" dirty="0">
                <a:solidFill>
                  <a:schemeClr val="bg1"/>
                </a:solidFill>
              </a:rPr>
              <a:t> &lt;a file&gt; (also possible with directories)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rm *  </a:t>
            </a:r>
            <a:r>
              <a:rPr lang="de-DE" sz="2000" b="1" dirty="0">
                <a:solidFill>
                  <a:schemeClr val="bg1"/>
                </a:solidFill>
              </a:rPr>
              <a:t>😭</a:t>
            </a:r>
            <a:endParaRPr lang="en-NL" sz="20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</a:rPr>
              <a:t>No bin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get = get &lt;something from the web&gt;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40DA2B30-DB88-AC75-9043-9A66D564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most used commands</a:t>
            </a:r>
          </a:p>
        </p:txBody>
      </p:sp>
    </p:spTree>
    <p:extLst>
      <p:ext uri="{BB962C8B-B14F-4D97-AF65-F5344CB8AC3E}">
        <p14:creationId xmlns:p14="http://schemas.microsoft.com/office/powerpoint/2010/main" val="350074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CC816-75A5-7F57-5022-FEA3E6A3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4CF29F-3A02-D7D8-B9C9-0E07D459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7E9FF38-A2AA-B9E4-673F-6FD2510CA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8.1</a:t>
            </a:r>
          </a:p>
        </p:txBody>
      </p:sp>
    </p:spTree>
    <p:extLst>
      <p:ext uri="{BB962C8B-B14F-4D97-AF65-F5344CB8AC3E}">
        <p14:creationId xmlns:p14="http://schemas.microsoft.com/office/powerpoint/2010/main" val="3167161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65EC0-93DC-3DE4-2CF4-2E84486F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E79C037-2B8A-7577-6C89-3E41B2B4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cat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CB9F413-BA4B-7ED1-FB5C-7F2E1FB92151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cat: </a:t>
            </a:r>
            <a:r>
              <a:rPr lang="en-US" sz="2400" dirty="0" err="1">
                <a:solidFill>
                  <a:schemeClr val="bg1"/>
                </a:solidFill>
              </a:rPr>
              <a:t>conCATenate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cat file 1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cat file1 file2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cat &gt; file1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&lt;write something&gt;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ctrl + D to close file</a:t>
            </a:r>
            <a:endParaRPr lang="en-NL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Afbeelding 6" descr="Afbeelding met tekst, Lettertype, schermopname&#10;&#10;Door AI gegenereerde inhoud is mogelijk onjuist.">
            <a:extLst>
              <a:ext uri="{FF2B5EF4-FFF2-40B4-BE49-F238E27FC236}">
                <a16:creationId xmlns:a16="http://schemas.microsoft.com/office/drawing/2014/main" id="{49FFB93C-8E84-6A81-B65F-FE172C44A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200" y="2391183"/>
            <a:ext cx="6490472" cy="207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37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87104-C7BA-39DD-2321-00338D53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D71442-FF11-5967-EE10-EB8C83F10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3B7644B-1322-8C9F-A512-D45F97F8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8.2</a:t>
            </a:r>
          </a:p>
        </p:txBody>
      </p:sp>
    </p:spTree>
    <p:extLst>
      <p:ext uri="{BB962C8B-B14F-4D97-AF65-F5344CB8AC3E}">
        <p14:creationId xmlns:p14="http://schemas.microsoft.com/office/powerpoint/2010/main" val="1903934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EC024-AEAE-CFB1-77F6-382FB4B5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F13584D-81A6-2C14-B5BA-31CF7E70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Even more “most used” commands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429B3384-2A5F-2BD9-9D61-ED17DB3E7F12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tar ; for tar.gz files! “</a:t>
            </a:r>
            <a:r>
              <a:rPr lang="en-US" sz="2400" dirty="0" err="1">
                <a:solidFill>
                  <a:schemeClr val="bg1"/>
                </a:solidFill>
              </a:rPr>
              <a:t>tarball</a:t>
            </a:r>
            <a:r>
              <a:rPr lang="en-US" sz="2400" dirty="0">
                <a:solidFill>
                  <a:schemeClr val="bg1"/>
                </a:solidFill>
              </a:rPr>
              <a:t>” archive with multiple files and folders. Tar doesn’t do compression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chemeClr val="bg1"/>
                </a:solidFill>
              </a:rPr>
              <a:t>gzip</a:t>
            </a:r>
            <a:r>
              <a:rPr lang="en-US" sz="2400" dirty="0">
                <a:solidFill>
                  <a:schemeClr val="bg1"/>
                </a:solidFill>
              </a:rPr>
              <a:t> ; for .</a:t>
            </a:r>
            <a:r>
              <a:rPr lang="en-US" sz="2400" dirty="0" err="1">
                <a:solidFill>
                  <a:schemeClr val="bg1"/>
                </a:solidFill>
              </a:rPr>
              <a:t>gz</a:t>
            </a:r>
            <a:r>
              <a:rPr lang="en-US" sz="2400" dirty="0">
                <a:solidFill>
                  <a:schemeClr val="bg1"/>
                </a:solidFill>
              </a:rPr>
              <a:t> files! a single file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unzip ; for .zip files! Zip archive can contain multiple files / folders. Zip does compression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910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9063F-4A20-0EA1-6EFD-F4B0D85E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29C8D98-C2AC-BCB7-BAC9-0FD0AC69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Even more “most used” commands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24ECD19-F6EE-876D-2BB8-80482A7845E5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more: view a file and only scroll forwards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less: view a file and scroll back and forth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most: supports multiple files</a:t>
            </a: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Picture 6" descr="superhero backgrounds #3738709 | Clipart Library">
            <a:extLst>
              <a:ext uri="{FF2B5EF4-FFF2-40B4-BE49-F238E27FC236}">
                <a16:creationId xmlns:a16="http://schemas.microsoft.com/office/drawing/2014/main" id="{F96752F2-ED08-F4EA-9A39-87D8DFFA35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326952" y="229775"/>
            <a:ext cx="1677565" cy="105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8113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1A4CE-4025-F1BC-E108-FCB3D460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54A4A7-5B1E-43D2-6B25-5479D53ED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53C4346-DD93-6852-CEB2-4D6E4CD2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9.1</a:t>
            </a:r>
          </a:p>
        </p:txBody>
      </p:sp>
    </p:spTree>
    <p:extLst>
      <p:ext uri="{BB962C8B-B14F-4D97-AF65-F5344CB8AC3E}">
        <p14:creationId xmlns:p14="http://schemas.microsoft.com/office/powerpoint/2010/main" val="3926115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FC832-DFE2-F63F-444B-94A6BB92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B2EB2B7-5D72-AAFA-3308-632ED38C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Even more “most used” commands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FD5160A5-B65A-D1B6-8A8E-D3838754216A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head: prints the first 10 lines of a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tail: prints the last 10 lines of a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940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E0448-1D61-7E1A-6FCE-E770F44F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3D25CD-0A03-B11B-78C4-909C2C682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B673B23-B4B4-61D5-FA33-672BF911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9.2 &amp; 9.3</a:t>
            </a:r>
          </a:p>
        </p:txBody>
      </p:sp>
    </p:spTree>
    <p:extLst>
      <p:ext uri="{BB962C8B-B14F-4D97-AF65-F5344CB8AC3E}">
        <p14:creationId xmlns:p14="http://schemas.microsoft.com/office/powerpoint/2010/main" val="1100534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6662D-19A4-2DC6-E23D-EFDEC9C9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2913111-4CD5-DD10-49E8-20F2EC38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Even more “most used” commands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B42A90C1-E6C7-1EE4-F711-9118714FE2F4}"/>
              </a:ext>
            </a:extLst>
          </p:cNvPr>
          <p:cNvSpPr txBox="1">
            <a:spLocks/>
          </p:cNvSpPr>
          <p:nvPr/>
        </p:nvSpPr>
        <p:spPr>
          <a:xfrm>
            <a:off x="1983872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clear: clears your terminal screen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exit: leave the connection or screen or interactive node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1026" name="Picture 2" descr="My Eyes Burn GIFs | Tenor">
            <a:extLst>
              <a:ext uri="{FF2B5EF4-FFF2-40B4-BE49-F238E27FC236}">
                <a16:creationId xmlns:a16="http://schemas.microsoft.com/office/drawing/2014/main" id="{3A5AFF39-09EC-23B1-30A0-D62C3654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738" y="1276350"/>
            <a:ext cx="28575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3431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9F906-500A-259D-7913-BE2F579A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B3FB4C7-DC1A-E31F-D357-6E9FFBDB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Searching in files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EC31769-488B-9A7F-4A09-379D7AD944F0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grep &lt;pattern&gt; &lt;file&gt;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pattern can be anything: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“hello”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“GENE_12”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“ACTG”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Good practice to use “”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There are many options; case sensitive, start line, end line … 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Picture 6" descr="superhero backgrounds #3738709 | Clipart Library">
            <a:extLst>
              <a:ext uri="{FF2B5EF4-FFF2-40B4-BE49-F238E27FC236}">
                <a16:creationId xmlns:a16="http://schemas.microsoft.com/office/drawing/2014/main" id="{32786DC7-A395-2B77-B90E-D2C192A52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7938334" y="219909"/>
            <a:ext cx="4054741" cy="254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5204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EDEA3-7749-8005-4CDB-C5E51C5F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D94195-D35C-AD28-A45B-5F9AD814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37BF3A6-6895-376A-F2B6-31D09D14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10 (and extra)</a:t>
            </a:r>
          </a:p>
        </p:txBody>
      </p:sp>
    </p:spTree>
    <p:extLst>
      <p:ext uri="{BB962C8B-B14F-4D97-AF65-F5344CB8AC3E}">
        <p14:creationId xmlns:p14="http://schemas.microsoft.com/office/powerpoint/2010/main" val="2552440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6F419-5A07-553F-CA0E-B88894BE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515C5DA-6983-8B06-857D-873940D3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Searching in files like a PRO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0347602-76C9-D417-4445-FF6630C57773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awk &lt;filters&gt; &lt;file name&gt;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For tabular files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It recognizes columns (Goodbye Excel!!)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You can indicate which column you want to search in with the “$”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E.g. $3 is the third column.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You can also calculate new numbers, e.g. $3-$2 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Picture 6" descr="superhero backgrounds #3738709 | Clipart Library">
            <a:extLst>
              <a:ext uri="{FF2B5EF4-FFF2-40B4-BE49-F238E27FC236}">
                <a16:creationId xmlns:a16="http://schemas.microsoft.com/office/drawing/2014/main" id="{E612323A-5889-9B81-3360-41C50B270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8068963" y="3676543"/>
            <a:ext cx="4054741" cy="254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4839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9E02A5-DA9C-2DD4-8AC4-EFDEF5F1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46D9E2-3D31-A20B-172B-83ADABE0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3276EBC-ADFB-C060-F031-0349F1FA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11 (and extra)</a:t>
            </a:r>
          </a:p>
        </p:txBody>
      </p:sp>
    </p:spTree>
    <p:extLst>
      <p:ext uri="{BB962C8B-B14F-4D97-AF65-F5344CB8AC3E}">
        <p14:creationId xmlns:p14="http://schemas.microsoft.com/office/powerpoint/2010/main" val="33647908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FABA3-B5C7-410A-02B4-BA90D0C5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07DD626-738E-4132-AA8E-B32F3A7E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Working on zipped files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A484315C-7A04-BF7F-02BE-9F35A7189A0E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chemeClr val="bg1"/>
                </a:solidFill>
              </a:rPr>
              <a:t>zcat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>
                <a:solidFill>
                  <a:schemeClr val="bg1"/>
                </a:solidFill>
              </a:rPr>
              <a:t>zgrep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Picture 6" descr="superhero backgrounds #3738709 | Clipart Library">
            <a:extLst>
              <a:ext uri="{FF2B5EF4-FFF2-40B4-BE49-F238E27FC236}">
                <a16:creationId xmlns:a16="http://schemas.microsoft.com/office/drawing/2014/main" id="{17C66E53-A3E2-F876-0038-B8ABF4DE4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5044867" y="1747133"/>
            <a:ext cx="6199220" cy="389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974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EC0AA-4021-E40A-C2B5-49391A45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E17FF93-4FD3-CB5C-160A-4CFA2E8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Piping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6C60AAEB-00CF-DC41-967B-120571C3693B}"/>
              </a:ext>
            </a:extLst>
          </p:cNvPr>
          <p:cNvSpPr txBox="1">
            <a:spLocks/>
          </p:cNvSpPr>
          <p:nvPr/>
        </p:nvSpPr>
        <p:spPr>
          <a:xfrm>
            <a:off x="400878" y="1661479"/>
            <a:ext cx="11873947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Command 1 file 1 </a:t>
            </a:r>
            <a:r>
              <a:rPr lang="en-US" sz="2400" b="1" dirty="0">
                <a:solidFill>
                  <a:schemeClr val="bg1"/>
                </a:solidFill>
              </a:rPr>
              <a:t>&gt;</a:t>
            </a:r>
            <a:r>
              <a:rPr lang="en-US" sz="2400" dirty="0">
                <a:solidFill>
                  <a:schemeClr val="bg1"/>
                </a:solidFill>
              </a:rPr>
              <a:t> output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Directs the output of command 1 into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Command file 1 | command 2 output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Afbeelding 3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246F6EF6-877C-D749-453D-91E86DC0E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591" y="4033797"/>
            <a:ext cx="3334215" cy="208626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585731D9-583F-CDAE-A7B0-E66FDFCD4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78" y="4033797"/>
            <a:ext cx="6830378" cy="504895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505B9937-F617-6334-04EE-ACCB095B1CF4}"/>
              </a:ext>
            </a:extLst>
          </p:cNvPr>
          <p:cNvSpPr/>
          <p:nvPr/>
        </p:nvSpPr>
        <p:spPr>
          <a:xfrm>
            <a:off x="2304146" y="4058501"/>
            <a:ext cx="2428627" cy="45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21029C6D-BFDE-8011-0802-8A52DAAB1365}"/>
              </a:ext>
            </a:extLst>
          </p:cNvPr>
          <p:cNvSpPr/>
          <p:nvPr/>
        </p:nvSpPr>
        <p:spPr>
          <a:xfrm>
            <a:off x="4767701" y="4058501"/>
            <a:ext cx="2428627" cy="45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3F1AFA23-0701-AB4E-B9C7-52648C0DB957}"/>
              </a:ext>
            </a:extLst>
          </p:cNvPr>
          <p:cNvSpPr/>
          <p:nvPr/>
        </p:nvSpPr>
        <p:spPr>
          <a:xfrm>
            <a:off x="7703495" y="4033797"/>
            <a:ext cx="1832391" cy="407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27D69B74-580F-2B76-964B-42AB1BADFCEA}"/>
              </a:ext>
            </a:extLst>
          </p:cNvPr>
          <p:cNvSpPr/>
          <p:nvPr/>
        </p:nvSpPr>
        <p:spPr>
          <a:xfrm>
            <a:off x="9713925" y="4033797"/>
            <a:ext cx="1027764" cy="4075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6054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A2BDE-B31F-A631-7899-1CA67244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12BC93-B45C-34B2-AECC-403AEBDDE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50499789-F120-78D6-5257-D861AE98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12</a:t>
            </a:r>
          </a:p>
        </p:txBody>
      </p:sp>
    </p:spTree>
    <p:extLst>
      <p:ext uri="{BB962C8B-B14F-4D97-AF65-F5344CB8AC3E}">
        <p14:creationId xmlns:p14="http://schemas.microsoft.com/office/powerpoint/2010/main" val="23898386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D26FF-2710-0B27-C264-CB23A8FF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D4FD0-5D9E-B7F5-B5EE-C03032274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8D075AF-44FB-78F3-9861-583B01FA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LUNCH BREAK!</a:t>
            </a:r>
          </a:p>
        </p:txBody>
      </p:sp>
    </p:spTree>
    <p:extLst>
      <p:ext uri="{BB962C8B-B14F-4D97-AF65-F5344CB8AC3E}">
        <p14:creationId xmlns:p14="http://schemas.microsoft.com/office/powerpoint/2010/main" val="24990738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337C3-3303-7ED7-FFB9-176C0EE1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D7A9A8-741F-4374-41BF-0183C290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72" y="1081697"/>
            <a:ext cx="9120986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Task: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want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automise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downloading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your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reads</a:t>
            </a:r>
            <a:r>
              <a:rPr lang="de-DE" dirty="0">
                <a:solidFill>
                  <a:schemeClr val="bg1"/>
                </a:solidFill>
              </a:rPr>
              <a:t> (e.g. </a:t>
            </a:r>
            <a:r>
              <a:rPr lang="de-DE" dirty="0" err="1">
                <a:solidFill>
                  <a:schemeClr val="bg1"/>
                </a:solidFill>
              </a:rPr>
              <a:t>wget</a:t>
            </a:r>
            <a:r>
              <a:rPr lang="de-DE" dirty="0">
                <a:solidFill>
                  <a:schemeClr val="bg1"/>
                </a:solidFill>
              </a:rPr>
              <a:t>), </a:t>
            </a:r>
            <a:r>
              <a:rPr lang="de-DE" dirty="0" err="1">
                <a:solidFill>
                  <a:schemeClr val="bg1"/>
                </a:solidFill>
              </a:rPr>
              <a:t>doing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quality</a:t>
            </a:r>
            <a:r>
              <a:rPr lang="de-DE" dirty="0">
                <a:solidFill>
                  <a:schemeClr val="bg1"/>
                </a:solidFill>
              </a:rPr>
              <a:t> check on </a:t>
            </a:r>
            <a:r>
              <a:rPr lang="de-DE" dirty="0" err="1">
                <a:solidFill>
                  <a:schemeClr val="bg1"/>
                </a:solidFill>
              </a:rPr>
              <a:t>them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fastqc</a:t>
            </a:r>
            <a:r>
              <a:rPr lang="de-DE" dirty="0">
                <a:solidFill>
                  <a:schemeClr val="bg1"/>
                </a:solidFill>
              </a:rPr>
              <a:t>) and </a:t>
            </a:r>
            <a:r>
              <a:rPr lang="de-DE" dirty="0" err="1">
                <a:solidFill>
                  <a:schemeClr val="bg1"/>
                </a:solidFill>
              </a:rPr>
              <a:t>cleaning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them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fastp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How </a:t>
            </a:r>
            <a:r>
              <a:rPr lang="de-DE" dirty="0" err="1">
                <a:solidFill>
                  <a:schemeClr val="bg1"/>
                </a:solidFill>
              </a:rPr>
              <a:t>would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structure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script</a:t>
            </a:r>
            <a:r>
              <a:rPr lang="de-DE" dirty="0">
                <a:solidFill>
                  <a:schemeClr val="bg1"/>
                </a:solidFill>
              </a:rPr>
              <a:t>(s)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task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FD1F894-F9D7-86F5-2A46-541C8062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THIS SLIDE GOES AFTER SCRIPTS</a:t>
            </a:r>
          </a:p>
        </p:txBody>
      </p:sp>
    </p:spTree>
    <p:extLst>
      <p:ext uri="{BB962C8B-B14F-4D97-AF65-F5344CB8AC3E}">
        <p14:creationId xmlns:p14="http://schemas.microsoft.com/office/powerpoint/2010/main" val="216464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2017</Words>
  <Application>Microsoft Office PowerPoint</Application>
  <PresentationFormat>Breedbeeld</PresentationFormat>
  <Paragraphs>684</Paragraphs>
  <Slides>59</Slides>
  <Notes>58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59</vt:i4>
      </vt:variant>
    </vt:vector>
  </HeadingPairs>
  <TitlesOfParts>
    <vt:vector size="64" baseType="lpstr">
      <vt:lpstr>Arial</vt:lpstr>
      <vt:lpstr>Calibri</vt:lpstr>
      <vt:lpstr>Calibri Light</vt:lpstr>
      <vt:lpstr>Wingdings</vt:lpstr>
      <vt:lpstr>Office Theme</vt:lpstr>
      <vt:lpstr>  EVOP 2026 Introduction to Linux pt. 1</vt:lpstr>
      <vt:lpstr>Welcome</vt:lpstr>
      <vt:lpstr>Welcome</vt:lpstr>
      <vt:lpstr>Welcome</vt:lpstr>
      <vt:lpstr>Welcome</vt:lpstr>
      <vt:lpstr>Logistics</vt:lpstr>
      <vt:lpstr>Introduction of Unix &amp; Terminal</vt:lpstr>
      <vt:lpstr>Introduction of Unix &amp; Terminal</vt:lpstr>
      <vt:lpstr>Introduction of Unix &amp; Terminal</vt:lpstr>
      <vt:lpstr>Log-in to LOCAL computer &amp; Explore!</vt:lpstr>
      <vt:lpstr>Types of server</vt:lpstr>
      <vt:lpstr>Command line</vt:lpstr>
      <vt:lpstr>Two words on error reporting</vt:lpstr>
      <vt:lpstr>Nodes, CPU’s and Memory</vt:lpstr>
      <vt:lpstr>Nodes, CPU’s and Memory</vt:lpstr>
      <vt:lpstr>Nodes, CPU’s and Memory</vt:lpstr>
      <vt:lpstr>Exercise 2: log in to the server  </vt:lpstr>
      <vt:lpstr>Local – internet – Server </vt:lpstr>
      <vt:lpstr>Local – internet – Screen – Server  </vt:lpstr>
      <vt:lpstr>Exercise 3: Use a screen</vt:lpstr>
      <vt:lpstr>Files &amp; Folders</vt:lpstr>
      <vt:lpstr>Files &amp; Folders</vt:lpstr>
      <vt:lpstr>Exercise 4: downloading</vt:lpstr>
      <vt:lpstr>Wildcards</vt:lpstr>
      <vt:lpstr>Exercise 5.1 More downloading</vt:lpstr>
      <vt:lpstr>Using keys</vt:lpstr>
      <vt:lpstr>Exercise 5.2 using the “tab”</vt:lpstr>
      <vt:lpstr>Exercise 5.3 &amp; 5.4</vt:lpstr>
      <vt:lpstr>Executing commands</vt:lpstr>
      <vt:lpstr>Executing commands</vt:lpstr>
      <vt:lpstr>User manual?</vt:lpstr>
      <vt:lpstr>User manual?</vt:lpstr>
      <vt:lpstr>man screen</vt:lpstr>
      <vt:lpstr>screen -h</vt:lpstr>
      <vt:lpstr>Finding which version</vt:lpstr>
      <vt:lpstr>Exercise 6</vt:lpstr>
      <vt:lpstr>Coffee break</vt:lpstr>
      <vt:lpstr>Most used commands</vt:lpstr>
      <vt:lpstr>Most used commands</vt:lpstr>
      <vt:lpstr>Exercise 7</vt:lpstr>
      <vt:lpstr>More most used commands</vt:lpstr>
      <vt:lpstr>Exercise 8.1</vt:lpstr>
      <vt:lpstr>cat</vt:lpstr>
      <vt:lpstr>Exercise 8.2</vt:lpstr>
      <vt:lpstr>Even more “most used” commands</vt:lpstr>
      <vt:lpstr>Even more “most used” commands</vt:lpstr>
      <vt:lpstr>Exercise 9.1</vt:lpstr>
      <vt:lpstr>Even more “most used” commands</vt:lpstr>
      <vt:lpstr>Exercise 9.2 &amp; 9.3</vt:lpstr>
      <vt:lpstr>Even more “most used” commands</vt:lpstr>
      <vt:lpstr>Searching in files</vt:lpstr>
      <vt:lpstr>Exercise 10 (and extra)</vt:lpstr>
      <vt:lpstr>Searching in files like a PRO</vt:lpstr>
      <vt:lpstr>Exercise 11 (and extra)</vt:lpstr>
      <vt:lpstr>Working on zipped files</vt:lpstr>
      <vt:lpstr>Piping</vt:lpstr>
      <vt:lpstr>Exercise 12</vt:lpstr>
      <vt:lpstr>LUNCH BREAK!</vt:lpstr>
      <vt:lpstr>THIS SLIDE GOES AFTER SCRIPTS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ToadCy/Bombina21  Field season planning</dc:title>
  <dc:creator>Isolde Riemsdijk</dc:creator>
  <cp:lastModifiedBy>Isolde van Riemsdijk</cp:lastModifiedBy>
  <cp:revision>96</cp:revision>
  <dcterms:created xsi:type="dcterms:W3CDTF">2023-02-24T12:47:34Z</dcterms:created>
  <dcterms:modified xsi:type="dcterms:W3CDTF">2026-02-16T10:21:59Z</dcterms:modified>
</cp:coreProperties>
</file>