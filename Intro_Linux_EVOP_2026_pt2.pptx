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346" r:id="rId3"/>
    <p:sldId id="347" r:id="rId4"/>
    <p:sldId id="362" r:id="rId5"/>
    <p:sldId id="363" r:id="rId6"/>
    <p:sldId id="365" r:id="rId7"/>
    <p:sldId id="366" r:id="rId8"/>
    <p:sldId id="367" r:id="rId9"/>
    <p:sldId id="368" r:id="rId10"/>
    <p:sldId id="332" r:id="rId11"/>
    <p:sldId id="364" r:id="rId12"/>
    <p:sldId id="369" r:id="rId13"/>
    <p:sldId id="370" r:id="rId14"/>
    <p:sldId id="372" r:id="rId15"/>
    <p:sldId id="371" r:id="rId16"/>
    <p:sldId id="373" r:id="rId17"/>
    <p:sldId id="374" r:id="rId18"/>
    <p:sldId id="376" r:id="rId19"/>
    <p:sldId id="375" r:id="rId20"/>
    <p:sldId id="377" r:id="rId21"/>
    <p:sldId id="378" r:id="rId2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6" autoAdjust="0"/>
    <p:restoredTop sz="95033" autoAdjust="0"/>
  </p:normalViewPr>
  <p:slideViewPr>
    <p:cSldViewPr snapToGrid="0">
      <p:cViewPr>
        <p:scale>
          <a:sx n="77" d="100"/>
          <a:sy n="77" d="100"/>
        </p:scale>
        <p:origin x="9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6F9E4-A0FE-4082-A392-169C268450B3}" type="datetimeFigureOut">
              <a:rPr lang="en-NL" smtClean="0"/>
              <a:t>16/02/2026</a:t>
            </a:fld>
            <a:endParaRPr lang="en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C557A-3D91-49A9-BC46-2AB5BEA7CE14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8562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1F98-2AAA-8EF1-5B86-979C4AF58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C45A2-B7BD-0D7F-495B-B353D95FA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9DA77-2926-0272-4D0B-6C3EB7D86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123A3-A291-7809-110E-2B051C435A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434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5D04-D069-9BB1-658A-AE0C0691B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C07E6-6D4D-8EAD-CA68-B316B6071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6C782-7B52-877C-62D4-716AF57F6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BF793-6E46-88E7-6A3A-A29FDBA5D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660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8A6B-BDE6-0692-3FFC-DAEB567D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A574B-0214-5DFA-C33F-835D1404B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CE1EE-46D0-FFAE-C985-D892E254B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C8DDF-EA56-0A96-A8B3-2861ECD92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220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B786C-21EF-FBA8-23A4-A8DD32B6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014DD-8127-0F53-DB6D-B201024E7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EAE29-DCBE-5B78-A61D-3C2E5E8F5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2F609-EFFF-8D34-7AA5-E4BB64228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054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1D7F1-75F1-004C-7367-B7079B4A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AA92A-F12A-40E9-4020-75CAE0CBB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91BCB-1B32-D7B7-EE08-7B15FE18D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^ stands for ctrl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E21B0-83B4-F2EA-C73B-4432043E3C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3508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4F77-A4DE-6999-1FEC-62648EE51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E2A64-F112-6FF9-B5C9-0CAF1D5FE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24B59C-DC2E-E335-2207-400552501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^ stands for ctrl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89D30-C92F-FFC5-6EB0-8C2D4EC12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432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965A-6BB2-3E62-E95C-BE233C41A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0EA81-E7F4-D3B6-0DEA-CE0E255F5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A3CA0-41C8-1F0D-5ABA-91EDAAE0F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03DD8-424F-4203-51D7-95E110E459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029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AC6B3-FDE8-3A36-F5DA-EA3CEC66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21068-94E2-4B73-1866-5F71C1DBB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7B737-7D77-8490-168A-167B65A5C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8F5426-A54D-966F-049D-FA866B418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25551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16EE3-8BC6-9276-5457-C5C6EDFD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1C161-66C8-EB15-F45E-EEBE327D4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22829-CF0E-89C7-2AFB-01D9A4212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BD58A-452F-2EB7-F501-559F8FF37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198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73694-9FFE-7FEA-40C8-A1247703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E358E3-EFA4-E165-1875-2028B9DC8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CB5B0-65A0-C531-0B6D-BDAB30FF1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61E3-BF8E-2503-DB63-21FA2D9678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949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9917-CF28-AB4D-6989-535489B3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3D0CC1-B2A0-9C50-C2FC-34448BAF1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B5CC5C-511F-0D9D-9E17-F4564C95C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E33F3-F6E4-CE59-4C33-EB3AF6BF5E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815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BF9E6-2661-BD5E-71DF-A3CABADC3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4FDAF-0794-57D8-88FF-E5BE6BB30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72AF2-631E-B387-1421-98F7B08BB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1CFD4-59C6-E37B-5546-0A9F88C4C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3923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359B1-9010-1069-8A50-185B4CD6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597E6-4777-21E1-A845-C3AD7B3EE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B859FE-CDB0-E5B5-DD43-B95362B96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7B88B-5A87-CF92-8C22-F1C04ED86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885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BA57B-BF20-4CA5-109B-EE879C04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15B67-1D1A-3FDC-A169-E5E451CB1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4F1E1-37CD-9356-6FD1-B8792AF8B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09A1F-F6EB-B9EB-C071-48D5F213A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272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D7DC4-A5B8-DE48-122A-7D1B9CC9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622F6-3256-8655-1C35-B7200A795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F46D2-11D6-C9A1-A295-BFF70633E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DED0F-5B61-1A27-8F02-063E86F84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57056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637A-0E6A-8249-B2FD-8339E8CA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58109-0F48-1525-00A7-E3F31C60C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B2D043-EEE8-EEDC-604C-455E53CEE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7B8EC-F209-4922-7ED5-F321339C4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961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2AFB1-4DE1-F6E3-5776-89F69A77F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C8A1C-DD82-DF86-1C37-26A4CD991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B3CD2-17DC-8092-C4EC-950DA8340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58FC1-9E2A-BF30-F250-EF7F4504E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0308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BD66-7733-05A0-9DB4-43380D62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05D9A-E101-6874-AAC5-6E8F1C4FB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0C7DB-F827-A7E2-B069-9D1CB955D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pictures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260D4-CBF0-F506-5C13-7DCD82E92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33646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3BF25-A9EF-46DF-47F2-AD63680C0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519653-4B13-E8EE-49C5-9EE5B4715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271A5-D325-F8FA-5D4A-B0C3910C0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AA2C8-F292-77BC-F9CA-429B75F4BD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01612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82A2-41BF-F9CC-2327-069A3D26F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37D48-5D5F-7AF5-89BD-00DE39C31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A9A43-D61D-1615-8A74-56212B57E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is defined in a function, program etc, that accepts a value from its’ execution call</a:t>
            </a:r>
          </a:p>
          <a:p>
            <a:r>
              <a:rPr lang="en-GB" dirty="0"/>
              <a:t>Argument is the data in the execution call being sent to the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4F007-8419-37D1-26E3-4053DDD85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E3F84D-C0A1-4AC8-B657-1420141A518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4849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610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64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836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160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34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72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919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43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2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307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44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21169-7CD5-40F5-8739-7AEA6E681249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AD0274-C1C3-4347-8CE3-70DD14E391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73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21F6A3-2845-986B-6C67-137F44E099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GB" noProof="0" dirty="0">
                <a:solidFill>
                  <a:schemeClr val="bg1"/>
                </a:solidFill>
              </a:rPr>
            </a:br>
            <a:br>
              <a:rPr lang="en-GB" noProof="0" dirty="0">
                <a:solidFill>
                  <a:schemeClr val="bg1"/>
                </a:solidFill>
              </a:rPr>
            </a:br>
            <a:r>
              <a:rPr lang="en-GB" b="1" noProof="0" dirty="0">
                <a:solidFill>
                  <a:schemeClr val="bg1"/>
                </a:solidFill>
              </a:rPr>
              <a:t>EVOP 2026</a:t>
            </a:r>
            <a:br>
              <a:rPr lang="en-GB" noProof="0" dirty="0">
                <a:solidFill>
                  <a:schemeClr val="bg1"/>
                </a:solidFill>
              </a:rPr>
            </a:br>
            <a:r>
              <a:rPr lang="en-GB" b="1" noProof="0" dirty="0">
                <a:solidFill>
                  <a:schemeClr val="bg1"/>
                </a:solidFill>
              </a:rPr>
              <a:t>Introduction to Linux Pt. 2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7147221-C97D-1E5E-0DA7-9DB3DE601F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Dr. Isolde van Riemsdijk</a:t>
            </a:r>
          </a:p>
          <a:p>
            <a:r>
              <a:rPr lang="en-GB" noProof="0" dirty="0">
                <a:solidFill>
                  <a:schemeClr val="bg1"/>
                </a:solidFill>
              </a:rPr>
              <a:t>Copenhagen University</a:t>
            </a:r>
            <a:br>
              <a:rPr lang="en-GB" noProof="0" dirty="0">
                <a:solidFill>
                  <a:schemeClr val="bg1"/>
                </a:solidFill>
              </a:rPr>
            </a:b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1F1AF9-28B5-D71D-B7E3-F0E3AD89A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888" y="4210259"/>
            <a:ext cx="2015757" cy="2446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Afbeelding 4" descr="Afbeelding met computer, meubels, stoel, schets&#10;&#10;Door AI gegenereerde inhoud is mogelijk onjuist.">
            <a:extLst>
              <a:ext uri="{FF2B5EF4-FFF2-40B4-BE49-F238E27FC236}">
                <a16:creationId xmlns:a16="http://schemas.microsoft.com/office/drawing/2014/main" id="{95FDC1D3-16F1-1C1D-A4C8-E7ADA98FC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17" y="4295383"/>
            <a:ext cx="2161587" cy="228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9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D679F-7F55-794D-EA70-D1A9C9FA0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EA1082-278C-A4AF-A0A6-B5858D7BA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BCC6F4F2-A271-F204-F3D2-CBF3740F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Moving from commands to scripts!</a:t>
            </a:r>
          </a:p>
        </p:txBody>
      </p:sp>
      <p:pic>
        <p:nvPicPr>
          <p:cNvPr id="2" name="Picture 6" descr="superhero backgrounds #3738709 | Clipart Library">
            <a:extLst>
              <a:ext uri="{FF2B5EF4-FFF2-40B4-BE49-F238E27FC236}">
                <a16:creationId xmlns:a16="http://schemas.microsoft.com/office/drawing/2014/main" id="{325223A0-F227-A2FC-1640-D9D73D36C8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365046" y="470652"/>
            <a:ext cx="1677565" cy="105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A4BCD166-E04C-E419-3F39-1B6666E74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6138" y="1562100"/>
            <a:ext cx="47529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38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3AA44-3840-3DC7-4730-B8F5A2D8B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31B155-FDCB-8CBF-A259-3D4584E57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And: &amp;&amp;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Or: ||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bg1"/>
                </a:solidFill>
              </a:rPr>
              <a:t>e.g. in grep or awk!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13D23DCC-22CF-03B9-FB2B-CBDE372EC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Regular expressions &amp; repeating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C12DF80-A06C-088B-A43C-E2E8AE6DB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77" y="4423103"/>
            <a:ext cx="10820033" cy="317862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A65E0769-6F42-7F5F-0824-A2609BB42FBC}"/>
              </a:ext>
            </a:extLst>
          </p:cNvPr>
          <p:cNvSpPr/>
          <p:nvPr/>
        </p:nvSpPr>
        <p:spPr>
          <a:xfrm>
            <a:off x="3684157" y="4423103"/>
            <a:ext cx="2130234" cy="3178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D145D115-45F7-1F8B-1D02-3EA64437C777}"/>
              </a:ext>
            </a:extLst>
          </p:cNvPr>
          <p:cNvSpPr/>
          <p:nvPr/>
        </p:nvSpPr>
        <p:spPr>
          <a:xfrm>
            <a:off x="5814390" y="4423103"/>
            <a:ext cx="2206487" cy="3178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0CC69A4C-A834-C8F9-7021-90710443B36A}"/>
              </a:ext>
            </a:extLst>
          </p:cNvPr>
          <p:cNvSpPr/>
          <p:nvPr/>
        </p:nvSpPr>
        <p:spPr>
          <a:xfrm>
            <a:off x="10114466" y="4423103"/>
            <a:ext cx="1103244" cy="3178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509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30548-4A23-7EF0-29EC-DEBD8822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CC4D53-78D8-513C-2FE7-814C082FA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BE53DF6D-B08C-97DC-CBB1-D3D721D4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13</a:t>
            </a:r>
          </a:p>
        </p:txBody>
      </p:sp>
    </p:spTree>
    <p:extLst>
      <p:ext uri="{BB962C8B-B14F-4D97-AF65-F5344CB8AC3E}">
        <p14:creationId xmlns:p14="http://schemas.microsoft.com/office/powerpoint/2010/main" val="1795806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CF16E-4E59-F789-C5C1-60E9F943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50AA8A-1A26-B8A0-7D54-EBB2E6B8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Different file viewer programs (e.g. notepad-like):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nano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vim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vi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emacs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DF546D9E-9B60-2CF4-DA6D-DB8C4C0B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Editing a file</a:t>
            </a:r>
          </a:p>
        </p:txBody>
      </p:sp>
    </p:spTree>
    <p:extLst>
      <p:ext uri="{BB962C8B-B14F-4D97-AF65-F5344CB8AC3E}">
        <p14:creationId xmlns:p14="http://schemas.microsoft.com/office/powerpoint/2010/main" val="138814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93A76-0878-020F-959F-6F1AD617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0E9BB9-6C14-B67E-D064-C1231FE1D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ACA898B4-75B9-BB4D-7123-EAE4489E3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Editing a file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240BEEAD-BAD8-5BD3-BCD9-DA1FD7C65F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99" y="797530"/>
            <a:ext cx="3829584" cy="200053"/>
          </a:xfrm>
          <a:prstGeom prst="rect">
            <a:avLst/>
          </a:prstGeom>
        </p:spPr>
      </p:pic>
      <p:pic>
        <p:nvPicPr>
          <p:cNvPr id="11" name="Afbeelding 10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3F439CF4-6B75-F65C-6704-38368A195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409" y="1278253"/>
            <a:ext cx="7306695" cy="4582164"/>
          </a:xfrm>
          <a:prstGeom prst="rect">
            <a:avLst/>
          </a:prstGeom>
        </p:spPr>
      </p:pic>
      <p:sp>
        <p:nvSpPr>
          <p:cNvPr id="12" name="Rechthoek 11">
            <a:extLst>
              <a:ext uri="{FF2B5EF4-FFF2-40B4-BE49-F238E27FC236}">
                <a16:creationId xmlns:a16="http://schemas.microsoft.com/office/drawing/2014/main" id="{B3EDEF0B-BCA5-4681-103A-D3971795A8CE}"/>
              </a:ext>
            </a:extLst>
          </p:cNvPr>
          <p:cNvSpPr/>
          <p:nvPr/>
        </p:nvSpPr>
        <p:spPr>
          <a:xfrm>
            <a:off x="3796493" y="5470511"/>
            <a:ext cx="1103244" cy="2159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6AECA888-5E83-D2F4-63B6-EE5390F0C1A0}"/>
              </a:ext>
            </a:extLst>
          </p:cNvPr>
          <p:cNvSpPr/>
          <p:nvPr/>
        </p:nvSpPr>
        <p:spPr>
          <a:xfrm>
            <a:off x="2567951" y="5469527"/>
            <a:ext cx="1215580" cy="216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40A23219-7963-06D9-CF93-AEDCBE4460C4}"/>
              </a:ext>
            </a:extLst>
          </p:cNvPr>
          <p:cNvSpPr/>
          <p:nvPr/>
        </p:nvSpPr>
        <p:spPr>
          <a:xfrm>
            <a:off x="1339409" y="5686504"/>
            <a:ext cx="1215580" cy="173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8403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43E72-89F0-1F2B-A7AB-839B1CF0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94DE92-580B-ED53-E1E7-CFCC937F6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1E00C252-7A7B-DA4A-3BCA-01A5942BD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Editing a file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72FC5FC-BA64-814F-597B-34830AE3D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99" y="797530"/>
            <a:ext cx="3829584" cy="200053"/>
          </a:xfrm>
          <a:prstGeom prst="rect">
            <a:avLst/>
          </a:prstGeom>
        </p:spPr>
      </p:pic>
      <p:pic>
        <p:nvPicPr>
          <p:cNvPr id="5" name="Afbeelding 4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EDF5E3A8-584E-C361-60EC-0012C1113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968" y="1181099"/>
            <a:ext cx="7611537" cy="4544059"/>
          </a:xfrm>
          <a:prstGeom prst="rect">
            <a:avLst/>
          </a:prstGeom>
        </p:spPr>
      </p:pic>
      <p:sp>
        <p:nvSpPr>
          <p:cNvPr id="6" name="Rechthoek 5">
            <a:extLst>
              <a:ext uri="{FF2B5EF4-FFF2-40B4-BE49-F238E27FC236}">
                <a16:creationId xmlns:a16="http://schemas.microsoft.com/office/drawing/2014/main" id="{4C883D38-19CE-74A3-F151-87E0A4D11F67}"/>
              </a:ext>
            </a:extLst>
          </p:cNvPr>
          <p:cNvSpPr/>
          <p:nvPr/>
        </p:nvSpPr>
        <p:spPr>
          <a:xfrm>
            <a:off x="1093967" y="5138530"/>
            <a:ext cx="3010893" cy="5866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61203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9E9EB-2AE6-7A10-AC9B-FD952B2EF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5E390B-390F-D47D-30E7-7A3970502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107C2905-9326-567D-CEC8-57F27693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A script (.</a:t>
            </a:r>
            <a:r>
              <a:rPr lang="en-GB" b="1" dirty="0" err="1">
                <a:solidFill>
                  <a:schemeClr val="bg1"/>
                </a:solidFill>
              </a:rPr>
              <a:t>sh</a:t>
            </a:r>
            <a:r>
              <a:rPr lang="en-GB" b="1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7" name="Afbeelding 6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DC2AEC97-353F-CF96-3A2B-9AF09DEAA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990" y="1310087"/>
            <a:ext cx="7240506" cy="4237826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26E7F766-648C-CF07-6C2C-67B0020288F5}"/>
              </a:ext>
            </a:extLst>
          </p:cNvPr>
          <p:cNvSpPr/>
          <p:nvPr/>
        </p:nvSpPr>
        <p:spPr>
          <a:xfrm>
            <a:off x="2638991" y="1310087"/>
            <a:ext cx="899340" cy="1989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9A8626B0-1032-7605-D2FA-6D946F74E98C}"/>
              </a:ext>
            </a:extLst>
          </p:cNvPr>
          <p:cNvSpPr/>
          <p:nvPr/>
        </p:nvSpPr>
        <p:spPr>
          <a:xfrm>
            <a:off x="2638988" y="1509079"/>
            <a:ext cx="3781689" cy="1562112"/>
          </a:xfrm>
          <a:prstGeom prst="rect">
            <a:avLst/>
          </a:prstGeom>
          <a:solidFill>
            <a:srgbClr val="FF6600">
              <a:alpha val="47059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5C5F8AA7-8ECC-66B8-FBCA-5F85E4011ECA}"/>
              </a:ext>
            </a:extLst>
          </p:cNvPr>
          <p:cNvSpPr/>
          <p:nvPr/>
        </p:nvSpPr>
        <p:spPr>
          <a:xfrm>
            <a:off x="2638990" y="3230008"/>
            <a:ext cx="1853497" cy="6538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A2DDB6F2-FC5F-58EC-8513-5BCD743767EB}"/>
              </a:ext>
            </a:extLst>
          </p:cNvPr>
          <p:cNvSpPr/>
          <p:nvPr/>
        </p:nvSpPr>
        <p:spPr>
          <a:xfrm>
            <a:off x="2638988" y="4110559"/>
            <a:ext cx="3274795" cy="401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A79CD5D5-4593-5A3A-DEDD-597AC63D9CBD}"/>
              </a:ext>
            </a:extLst>
          </p:cNvPr>
          <p:cNvSpPr/>
          <p:nvPr/>
        </p:nvSpPr>
        <p:spPr>
          <a:xfrm>
            <a:off x="2638986" y="4739087"/>
            <a:ext cx="7240506" cy="4018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6739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7650F-5ACD-EEE1-A814-D202AB58E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7B153D-7093-080B-D0B2-40F43CF13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2583913-0599-8CF0-BC33-88F83643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A bad script (.R) – myself 8 years ago :P</a:t>
            </a:r>
          </a:p>
        </p:txBody>
      </p:sp>
      <p:pic>
        <p:nvPicPr>
          <p:cNvPr id="4" name="Afbeelding 3" descr="Afbeelding met tekst, schermopname, software, nummer&#10;&#10;Door AI gegenereerde inhoud is mogelijk onjuist.">
            <a:extLst>
              <a:ext uri="{FF2B5EF4-FFF2-40B4-BE49-F238E27FC236}">
                <a16:creationId xmlns:a16="http://schemas.microsoft.com/office/drawing/2014/main" id="{1940536B-2A9A-4F71-1874-3AC641CA0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67" y="925917"/>
            <a:ext cx="8340866" cy="585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15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337C3-3303-7ED7-FFB9-176C0EE1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D7A9A8-741F-4374-41BF-0183C290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202" y="2184940"/>
            <a:ext cx="9120986" cy="435133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Task: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want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automise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downloading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your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reads</a:t>
            </a:r>
            <a:r>
              <a:rPr lang="de-DE" dirty="0">
                <a:solidFill>
                  <a:schemeClr val="bg1"/>
                </a:solidFill>
              </a:rPr>
              <a:t> (e.g. </a:t>
            </a:r>
            <a:r>
              <a:rPr lang="de-DE" dirty="0" err="1">
                <a:solidFill>
                  <a:schemeClr val="bg1"/>
                </a:solidFill>
              </a:rPr>
              <a:t>wget</a:t>
            </a:r>
            <a:r>
              <a:rPr lang="de-DE" dirty="0">
                <a:solidFill>
                  <a:schemeClr val="bg1"/>
                </a:solidFill>
              </a:rPr>
              <a:t>), </a:t>
            </a:r>
            <a:r>
              <a:rPr lang="de-DE" dirty="0" err="1">
                <a:solidFill>
                  <a:schemeClr val="bg1"/>
                </a:solidFill>
              </a:rPr>
              <a:t>doing</a:t>
            </a:r>
            <a:r>
              <a:rPr lang="de-DE" dirty="0">
                <a:solidFill>
                  <a:schemeClr val="bg1"/>
                </a:solidFill>
              </a:rPr>
              <a:t> a </a:t>
            </a:r>
            <a:r>
              <a:rPr lang="de-DE" dirty="0" err="1">
                <a:solidFill>
                  <a:schemeClr val="bg1"/>
                </a:solidFill>
              </a:rPr>
              <a:t>quality</a:t>
            </a:r>
            <a:r>
              <a:rPr lang="de-DE" dirty="0">
                <a:solidFill>
                  <a:schemeClr val="bg1"/>
                </a:solidFill>
              </a:rPr>
              <a:t> check on </a:t>
            </a:r>
            <a:r>
              <a:rPr lang="de-DE" dirty="0" err="1">
                <a:solidFill>
                  <a:schemeClr val="bg1"/>
                </a:solidFill>
              </a:rPr>
              <a:t>them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fastqc</a:t>
            </a:r>
            <a:r>
              <a:rPr lang="de-DE" dirty="0">
                <a:solidFill>
                  <a:schemeClr val="bg1"/>
                </a:solidFill>
              </a:rPr>
              <a:t>) and </a:t>
            </a:r>
            <a:r>
              <a:rPr lang="de-DE" dirty="0" err="1">
                <a:solidFill>
                  <a:schemeClr val="bg1"/>
                </a:solidFill>
              </a:rPr>
              <a:t>cleaning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them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fastp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de-DE" dirty="0">
                <a:solidFill>
                  <a:schemeClr val="bg1"/>
                </a:solidFill>
              </a:rPr>
              <a:t>How </a:t>
            </a:r>
            <a:r>
              <a:rPr lang="de-DE" dirty="0" err="1">
                <a:solidFill>
                  <a:schemeClr val="bg1"/>
                </a:solidFill>
              </a:rPr>
              <a:t>would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structure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script</a:t>
            </a:r>
            <a:r>
              <a:rPr lang="de-DE" dirty="0">
                <a:solidFill>
                  <a:schemeClr val="bg1"/>
                </a:solidFill>
              </a:rPr>
              <a:t>(s) 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this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task</a:t>
            </a:r>
            <a:r>
              <a:rPr lang="de-DE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CFD1F894-F9D7-86F5-2A46-541C8062C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Using a Unix philosophy …</a:t>
            </a:r>
          </a:p>
        </p:txBody>
      </p:sp>
      <p:pic>
        <p:nvPicPr>
          <p:cNvPr id="2" name="Picture 6" descr="superhero backgrounds #3738709 | Clipart Library">
            <a:extLst>
              <a:ext uri="{FF2B5EF4-FFF2-40B4-BE49-F238E27FC236}">
                <a16:creationId xmlns:a16="http://schemas.microsoft.com/office/drawing/2014/main" id="{5B371383-D72E-9596-2EE0-9735B7EFFE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4477200" y="4816200"/>
            <a:ext cx="2264989" cy="142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64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6F80E-2B0C-9C5C-7F02-196F549FC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525E44-6113-DEC6-21C7-D58AE0F0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FCD6BD8F-DFE3-0D22-091D-71DEB8B2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14</a:t>
            </a:r>
          </a:p>
        </p:txBody>
      </p:sp>
    </p:spTree>
    <p:extLst>
      <p:ext uri="{BB962C8B-B14F-4D97-AF65-F5344CB8AC3E}">
        <p14:creationId xmlns:p14="http://schemas.microsoft.com/office/powerpoint/2010/main" val="124080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4B04C-4D92-99D2-B805-884517C3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26D54A-5A3A-C542-CE37-B8A0D94F6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ED21B9B-0743-68DE-8154-DF77BAFF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Coffee break! (probably)</a:t>
            </a:r>
          </a:p>
        </p:txBody>
      </p:sp>
    </p:spTree>
    <p:extLst>
      <p:ext uri="{BB962C8B-B14F-4D97-AF65-F5344CB8AC3E}">
        <p14:creationId xmlns:p14="http://schemas.microsoft.com/office/powerpoint/2010/main" val="1962024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0F321F-4538-8FC9-A0F1-D4EFDF6B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678663-F95E-965D-2AE5-16D6E7AE9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A </a:t>
            </a:r>
            <a:r>
              <a:rPr lang="en-US" sz="2400" b="1" dirty="0">
                <a:solidFill>
                  <a:schemeClr val="bg1"/>
                </a:solidFill>
              </a:rPr>
              <a:t>loop</a:t>
            </a:r>
            <a:r>
              <a:rPr lang="en-US" sz="2400" dirty="0">
                <a:solidFill>
                  <a:schemeClr val="bg1"/>
                </a:solidFill>
              </a:rPr>
              <a:t>: you want to do something for each (set of) variables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From: https://linuxhint.com/bash-for-loop-one-line/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4A90008-8AAF-B96F-7391-63AE8C2EE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More concepts</a:t>
            </a:r>
          </a:p>
        </p:txBody>
      </p:sp>
      <p:pic>
        <p:nvPicPr>
          <p:cNvPr id="8" name="Afbeelding 7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50BBD46F-FE48-891B-F1BB-E88969B79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9" y="2047461"/>
            <a:ext cx="4710226" cy="425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34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6B886-CB0B-DBEF-1338-E55709EB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D5F2FB-D3F1-C29F-6B5A-411BDC153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A </a:t>
            </a:r>
            <a:r>
              <a:rPr lang="en-US" sz="2400" b="1" dirty="0">
                <a:solidFill>
                  <a:schemeClr val="bg1"/>
                </a:solidFill>
              </a:rPr>
              <a:t>loop</a:t>
            </a:r>
            <a:r>
              <a:rPr lang="en-US" sz="2400" dirty="0">
                <a:solidFill>
                  <a:schemeClr val="bg1"/>
                </a:solidFill>
              </a:rPr>
              <a:t>: you want to do something for each (set of) files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F5BAC7F3-BC00-455E-9D7A-F2F53950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More concepts</a:t>
            </a:r>
          </a:p>
        </p:txBody>
      </p:sp>
      <p:pic>
        <p:nvPicPr>
          <p:cNvPr id="6" name="Afbeelding 5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ED2990F0-8E35-D3FA-B999-A5F4727EF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797" y="2097156"/>
            <a:ext cx="7423685" cy="4104861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44BC6575-B96F-2603-F5B5-52338810CEAF}"/>
              </a:ext>
            </a:extLst>
          </p:cNvPr>
          <p:cNvSpPr/>
          <p:nvPr/>
        </p:nvSpPr>
        <p:spPr>
          <a:xfrm>
            <a:off x="1910795" y="2324086"/>
            <a:ext cx="4185205" cy="1720929"/>
          </a:xfrm>
          <a:prstGeom prst="rect">
            <a:avLst/>
          </a:prstGeom>
          <a:solidFill>
            <a:srgbClr val="FF6600">
              <a:alpha val="47059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3C094888-9D16-986C-F4D1-FE50177B6DC1}"/>
              </a:ext>
            </a:extLst>
          </p:cNvPr>
          <p:cNvSpPr/>
          <p:nvPr/>
        </p:nvSpPr>
        <p:spPr>
          <a:xfrm>
            <a:off x="1910796" y="5875103"/>
            <a:ext cx="1508266" cy="3269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EDAD811A-A742-824D-A84E-24B91513A8C9}"/>
              </a:ext>
            </a:extLst>
          </p:cNvPr>
          <p:cNvSpPr/>
          <p:nvPr/>
        </p:nvSpPr>
        <p:spPr>
          <a:xfrm>
            <a:off x="3419061" y="5880476"/>
            <a:ext cx="2464903" cy="3269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AEC54DEE-9FE2-EA20-A33C-C363BFF0644E}"/>
              </a:ext>
            </a:extLst>
          </p:cNvPr>
          <p:cNvSpPr/>
          <p:nvPr/>
        </p:nvSpPr>
        <p:spPr>
          <a:xfrm>
            <a:off x="6045485" y="5885042"/>
            <a:ext cx="1866064" cy="3269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D1529D9-78CF-24B6-560E-74671E746BAC}"/>
              </a:ext>
            </a:extLst>
          </p:cNvPr>
          <p:cNvSpPr/>
          <p:nvPr/>
        </p:nvSpPr>
        <p:spPr>
          <a:xfrm>
            <a:off x="7911549" y="5875103"/>
            <a:ext cx="765312" cy="3269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5224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9B5DD-1961-1477-8592-FE02DE3E3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BB465B-8706-D1B7-B29B-69CAB5FC4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A loop: you want to do something for each (set of) files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2BE651B8-6B4A-9D4A-1F68-340E4089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More concepts</a:t>
            </a:r>
          </a:p>
        </p:txBody>
      </p:sp>
      <p:pic>
        <p:nvPicPr>
          <p:cNvPr id="4" name="Afbeelding 3" descr="Afbeelding met tekst, schermopname, Lettertype, document&#10;&#10;Door AI gegenereerde inhoud is mogelijk onjuist.">
            <a:extLst>
              <a:ext uri="{FF2B5EF4-FFF2-40B4-BE49-F238E27FC236}">
                <a16:creationId xmlns:a16="http://schemas.microsoft.com/office/drawing/2014/main" id="{D829022C-EC7D-3251-AE31-74FACE2C4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514" y="2231181"/>
            <a:ext cx="5853791" cy="3629236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028B38F4-7AED-3B6C-AF57-805F77117BF7}"/>
              </a:ext>
            </a:extLst>
          </p:cNvPr>
          <p:cNvSpPr/>
          <p:nvPr/>
        </p:nvSpPr>
        <p:spPr>
          <a:xfrm>
            <a:off x="2097514" y="5476461"/>
            <a:ext cx="5853791" cy="3839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05288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A59D5-8BD6-45BD-4A26-1A889DDE1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051606-1DA3-F04A-7EB6-05F11C983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A loop: you want to do something for each </a:t>
            </a:r>
            <a:r>
              <a:rPr lang="en-US" sz="2400" b="1" dirty="0">
                <a:solidFill>
                  <a:schemeClr val="bg1"/>
                </a:solidFill>
              </a:rPr>
              <a:t>set of</a:t>
            </a:r>
            <a:r>
              <a:rPr lang="en-US" sz="2400" dirty="0">
                <a:solidFill>
                  <a:schemeClr val="bg1"/>
                </a:solidFill>
              </a:rPr>
              <a:t> files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2DBC16EC-4F8D-5350-CFB1-EEE1C9F6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More concepts</a:t>
            </a:r>
          </a:p>
        </p:txBody>
      </p:sp>
      <p:pic>
        <p:nvPicPr>
          <p:cNvPr id="6" name="Afbeelding 5" descr="Afbeelding met tekst, schermopname, Lettertype, algebra&#10;&#10;Door AI gegenereerde inhoud is mogelijk onjuist.">
            <a:extLst>
              <a:ext uri="{FF2B5EF4-FFF2-40B4-BE49-F238E27FC236}">
                <a16:creationId xmlns:a16="http://schemas.microsoft.com/office/drawing/2014/main" id="{D803AE3A-8AC4-595A-9538-6B3A68FB5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50" y="2681183"/>
            <a:ext cx="11288700" cy="1495634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5BE624E6-6494-AA11-8697-ECBE3EEB6B62}"/>
              </a:ext>
            </a:extLst>
          </p:cNvPr>
          <p:cNvSpPr/>
          <p:nvPr/>
        </p:nvSpPr>
        <p:spPr>
          <a:xfrm>
            <a:off x="566889" y="2938204"/>
            <a:ext cx="2226007" cy="3317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40270FF7-2CF3-71E6-1036-3D5EF067C1AE}"/>
              </a:ext>
            </a:extLst>
          </p:cNvPr>
          <p:cNvSpPr/>
          <p:nvPr/>
        </p:nvSpPr>
        <p:spPr>
          <a:xfrm>
            <a:off x="937951" y="3245618"/>
            <a:ext cx="1646224" cy="3317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4F52050E-F351-4695-F06E-61EA0B12BED3}"/>
              </a:ext>
            </a:extLst>
          </p:cNvPr>
          <p:cNvSpPr/>
          <p:nvPr/>
        </p:nvSpPr>
        <p:spPr>
          <a:xfrm>
            <a:off x="1517735" y="3553032"/>
            <a:ext cx="1646224" cy="3317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2686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79A5B-2587-519B-6D71-1E956D7B2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7DB1BF-16A1-E555-3147-7C2F23B72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An array (just for fun)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B7FD5FBA-6B5D-86AD-CB8B-5B374163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More concepts</a:t>
            </a:r>
          </a:p>
        </p:txBody>
      </p:sp>
      <p:pic>
        <p:nvPicPr>
          <p:cNvPr id="4" name="Afbeelding 3" descr="Afbeelding met tekst, schermopname, Lettertype&#10;&#10;Door AI gegenereerde inhoud is mogelijk onjuist.">
            <a:extLst>
              <a:ext uri="{FF2B5EF4-FFF2-40B4-BE49-F238E27FC236}">
                <a16:creationId xmlns:a16="http://schemas.microsoft.com/office/drawing/2014/main" id="{3A7D342A-F824-3E2C-CF1C-511A9948F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509" y="1554516"/>
            <a:ext cx="6287377" cy="4305901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088E7466-97A0-D1E3-D558-0EC6A1B86C89}"/>
              </a:ext>
            </a:extLst>
          </p:cNvPr>
          <p:cNvSpPr/>
          <p:nvPr/>
        </p:nvSpPr>
        <p:spPr>
          <a:xfrm>
            <a:off x="3790509" y="2294086"/>
            <a:ext cx="2226007" cy="3317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3D04461E-5C1C-9B3D-B109-0BAA054FEBBB}"/>
              </a:ext>
            </a:extLst>
          </p:cNvPr>
          <p:cNvSpPr/>
          <p:nvPr/>
        </p:nvSpPr>
        <p:spPr>
          <a:xfrm>
            <a:off x="3790507" y="5024609"/>
            <a:ext cx="6287379" cy="2385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541C240F-4F1D-7ECD-BE75-EEBA67E32636}"/>
              </a:ext>
            </a:extLst>
          </p:cNvPr>
          <p:cNvSpPr/>
          <p:nvPr/>
        </p:nvSpPr>
        <p:spPr>
          <a:xfrm>
            <a:off x="4643812" y="5612354"/>
            <a:ext cx="1114258" cy="2385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3A1367F4-AA80-EF87-F158-36C7D4B11832}"/>
              </a:ext>
            </a:extLst>
          </p:cNvPr>
          <p:cNvSpPr/>
          <p:nvPr/>
        </p:nvSpPr>
        <p:spPr>
          <a:xfrm>
            <a:off x="8647822" y="5579828"/>
            <a:ext cx="1114258" cy="2385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44756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243F60-97DA-C6D3-1EB7-8251FB80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AD18E3-CB66-9558-C116-65F917BA8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EAF0CD68-04D9-EBF0-E3BD-0ADBA47E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Exercise 15</a:t>
            </a:r>
          </a:p>
        </p:txBody>
      </p:sp>
    </p:spTree>
    <p:extLst>
      <p:ext uri="{BB962C8B-B14F-4D97-AF65-F5344CB8AC3E}">
        <p14:creationId xmlns:p14="http://schemas.microsoft.com/office/powerpoint/2010/main" val="2351433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CEEE82-5E0A-87FE-2D2F-B2D97C0B7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11375F-98FF-A274-277C-919AA0EA6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Environments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Conda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Pipelines / </a:t>
            </a:r>
            <a:r>
              <a:rPr lang="en-US" sz="2400" dirty="0" err="1">
                <a:solidFill>
                  <a:schemeClr val="bg1"/>
                </a:solidFill>
              </a:rPr>
              <a:t>snakemake</a:t>
            </a:r>
            <a:r>
              <a:rPr lang="en-US" sz="2400" dirty="0">
                <a:solidFill>
                  <a:schemeClr val="bg1"/>
                </a:solidFill>
              </a:rPr>
              <a:t> /….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Containers / images / etc.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4D0AB11-C2E1-328B-2B5E-6845FF048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The Advanced Stuff</a:t>
            </a:r>
          </a:p>
        </p:txBody>
      </p:sp>
      <p:pic>
        <p:nvPicPr>
          <p:cNvPr id="2" name="Picture 6" descr="superhero backgrounds #3738709 | Clipart Library">
            <a:extLst>
              <a:ext uri="{FF2B5EF4-FFF2-40B4-BE49-F238E27FC236}">
                <a16:creationId xmlns:a16="http://schemas.microsoft.com/office/drawing/2014/main" id="{9FD0643F-D8BE-7CED-C770-18E7072CA1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9432438" y="281290"/>
            <a:ext cx="2264989" cy="142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718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192A5-799D-56DE-D980-51F4F7FC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500C98-6C00-7E2E-F182-C2FF12B60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6AFBD191-A304-7896-9A60-B5107FE3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RECAP</a:t>
            </a:r>
          </a:p>
        </p:txBody>
      </p:sp>
      <p:pic>
        <p:nvPicPr>
          <p:cNvPr id="2" name="Picture 6" descr="superhero backgrounds #3738709 | Clipart Library">
            <a:extLst>
              <a:ext uri="{FF2B5EF4-FFF2-40B4-BE49-F238E27FC236}">
                <a16:creationId xmlns:a16="http://schemas.microsoft.com/office/drawing/2014/main" id="{5752792D-BA0D-E9B2-E818-DB7C80C685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3431224" y="1585336"/>
            <a:ext cx="4955869" cy="311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5050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2D1436-742E-9344-9E4B-877DB6A1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6345360-C793-6C5B-FB04-E14B3835B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78" y="1509079"/>
            <a:ext cx="118739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NL" sz="2800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b="1" i="1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E794A73-12B1-F4AF-9F2E-0B3F9BC1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Extra exercises!</a:t>
            </a:r>
          </a:p>
        </p:txBody>
      </p:sp>
      <p:pic>
        <p:nvPicPr>
          <p:cNvPr id="2" name="Picture 6" descr="superhero backgrounds #3738709 | Clipart Library">
            <a:extLst>
              <a:ext uri="{FF2B5EF4-FFF2-40B4-BE49-F238E27FC236}">
                <a16:creationId xmlns:a16="http://schemas.microsoft.com/office/drawing/2014/main" id="{E44B5FB5-EF3B-D824-33AF-5C86065824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  <a14:imgEffect>
                      <a14:artisticLineDrawing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1274" r="19907" b="17464"/>
          <a:stretch>
            <a:fillRect/>
          </a:stretch>
        </p:blipFill>
        <p:spPr bwMode="auto">
          <a:xfrm rot="20591101" flipH="1">
            <a:off x="3431224" y="1585336"/>
            <a:ext cx="4955869" cy="311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30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513</Words>
  <Application>Microsoft Office PowerPoint</Application>
  <PresentationFormat>Breedbeeld</PresentationFormat>
  <Paragraphs>209</Paragraphs>
  <Slides>21</Slides>
  <Notes>20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  EVOP 2026 Introduction to Linux Pt. 2</vt:lpstr>
      <vt:lpstr>Moving from commands to scripts!</vt:lpstr>
      <vt:lpstr>Regular expressions &amp; repeating</vt:lpstr>
      <vt:lpstr>Exercise 13</vt:lpstr>
      <vt:lpstr>Editing a file</vt:lpstr>
      <vt:lpstr>Editing a file</vt:lpstr>
      <vt:lpstr>Editing a file</vt:lpstr>
      <vt:lpstr>A script (.sh)</vt:lpstr>
      <vt:lpstr>A bad script (.R) – myself 8 years ago :P</vt:lpstr>
      <vt:lpstr>Using a Unix philosophy …</vt:lpstr>
      <vt:lpstr>Exercise 14</vt:lpstr>
      <vt:lpstr>Coffee break! (probably)</vt:lpstr>
      <vt:lpstr>More concepts</vt:lpstr>
      <vt:lpstr>More concepts</vt:lpstr>
      <vt:lpstr>More concepts</vt:lpstr>
      <vt:lpstr>More concepts</vt:lpstr>
      <vt:lpstr>More concepts</vt:lpstr>
      <vt:lpstr>Exercise 15</vt:lpstr>
      <vt:lpstr>The Advanced Stuff</vt:lpstr>
      <vt:lpstr>RECAP</vt:lpstr>
      <vt:lpstr>Extra exercises!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ToadCy/Bombina21  Field season planning</dc:title>
  <dc:creator>Isolde Riemsdijk</dc:creator>
  <cp:lastModifiedBy>Isolde van Riemsdijk</cp:lastModifiedBy>
  <cp:revision>96</cp:revision>
  <dcterms:created xsi:type="dcterms:W3CDTF">2023-02-24T12:47:34Z</dcterms:created>
  <dcterms:modified xsi:type="dcterms:W3CDTF">2026-02-16T11:20:31Z</dcterms:modified>
</cp:coreProperties>
</file>